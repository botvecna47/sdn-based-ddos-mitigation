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097280" y="1371600"/>
            <a:ext cx="9966960" cy="4114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645920" y="1828800"/>
            <a:ext cx="2926080" cy="365760"/>
          </a:xfrm>
          <a:prstGeom prst="round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100">
                <a:solidFill>
                  <a:srgbClr val="0F172A"/>
                </a:solidFill>
              </a:defRPr>
            </a:pPr>
            <a:r>
              <a:t>RESEARCH &amp; DEPLOYMENT</a:t>
            </a:r>
          </a:p>
        </p:txBody>
      </p:sp>
      <p:sp>
        <p:nvSpPr>
          <p:cNvPr id="5" name="TextBox 4"/>
          <p:cNvSpPr txBox="1"/>
          <p:nvPr/>
        </p:nvSpPr>
        <p:spPr>
          <a:xfrm>
            <a:off x="1645920" y="2377440"/>
            <a:ext cx="8961120" cy="1463040"/>
          </a:xfrm>
          <a:prstGeom prst="rect">
            <a:avLst/>
          </a:prstGeom>
          <a:noFill/>
        </p:spPr>
        <p:txBody>
          <a:bodyPr wrap="square">
            <a:spAutoFit/>
          </a:bodyPr>
          <a:lstStyle/>
          <a:p>
            <a:pPr>
              <a:defRPr sz="3600" b="1">
                <a:solidFill>
                  <a:srgbClr val="FFFFFF"/>
                </a:solidFill>
              </a:defRPr>
            </a:pPr>
            <a:r>
              <a:t>SDN-Based DDoS Detection &amp; Mitigation</a:t>
            </a:r>
          </a:p>
          <a:p>
            <a:pPr>
              <a:spcBef>
                <a:spcPts val="800"/>
              </a:spcBef>
              <a:defRPr sz="1800">
                <a:solidFill>
                  <a:srgbClr val="0EA5E9"/>
                </a:solidFill>
              </a:defRPr>
            </a:pPr>
            <a:r>
              <a:t>Autonomous Machine Learning Pipeline, Sequence Modeling &amp; Real-Time OpenFlow Mitigation</a:t>
            </a:r>
          </a:p>
        </p:txBody>
      </p:sp>
      <p:sp>
        <p:nvSpPr>
          <p:cNvPr id="6" name="TextBox 5"/>
          <p:cNvSpPr txBox="1"/>
          <p:nvPr/>
        </p:nvSpPr>
        <p:spPr>
          <a:xfrm>
            <a:off x="1645920" y="4114800"/>
            <a:ext cx="8961120" cy="914400"/>
          </a:xfrm>
          <a:prstGeom prst="rect">
            <a:avLst/>
          </a:prstGeom>
          <a:noFill/>
        </p:spPr>
        <p:txBody>
          <a:bodyPr wrap="none">
            <a:spAutoFit/>
          </a:bodyPr>
          <a:lstStyle/>
          <a:p>
            <a:pPr>
              <a:defRPr sz="1300">
                <a:solidFill>
                  <a:srgbClr val="94A3B8"/>
                </a:solidFill>
              </a:defRPr>
            </a:pPr>
            <a:r>
              <a:t>•  Dataset: UNB CIC-DDoS2019 (11 Attack Categories, 207k Flows)</a:t>
            </a:r>
          </a:p>
          <a:p>
            <a:pPr>
              <a:defRPr sz="1300">
                <a:solidFill>
                  <a:srgbClr val="94A3B8"/>
                </a:solidFill>
              </a:defRPr>
            </a:pPr>
            <a:r>
              <a:t>•  Models: Logistic Regression, Decision Tree, Random Forest, XGBoost &amp; 2-Layer LSTM</a:t>
            </a:r>
          </a:p>
          <a:p>
            <a:pPr>
              <a:defRPr sz="1300">
                <a:solidFill>
                  <a:srgbClr val="94A3B8"/>
                </a:solidFill>
              </a:defRPr>
            </a:pPr>
            <a:r>
              <a:t>•  Target Controller: Ryu SDN OpenFlow 1.3 | Inference SLA: &lt; 5.0 ms per packet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228600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9144000" cy="274320"/>
          </a:xfrm>
          <a:prstGeom prst="rect">
            <a:avLst/>
          </a:prstGeom>
          <a:noFill/>
        </p:spPr>
        <p:txBody>
          <a:bodyPr wrap="square">
            <a:spAutoFit/>
          </a:bodyPr>
          <a:lstStyle/>
          <a:p>
            <a:pPr>
              <a:defRPr sz="1000" b="1">
                <a:solidFill>
                  <a:srgbClr val="0EA5E9"/>
                </a:solidFill>
              </a:defRPr>
            </a:pPr>
            <a:r>
              <a:t>PROJECT OVERVIEW</a:t>
            </a:r>
          </a:p>
        </p:txBody>
      </p:sp>
      <p:sp>
        <p:nvSpPr>
          <p:cNvPr id="5" name="TextBox 4"/>
          <p:cNvSpPr txBox="1"/>
          <p:nvPr/>
        </p:nvSpPr>
        <p:spPr>
          <a:xfrm>
            <a:off x="731520" y="685800"/>
            <a:ext cx="10698480" cy="640080"/>
          </a:xfrm>
          <a:prstGeom prst="rect">
            <a:avLst/>
          </a:prstGeom>
          <a:noFill/>
        </p:spPr>
        <p:txBody>
          <a:bodyPr wrap="square">
            <a:spAutoFit/>
          </a:bodyPr>
          <a:lstStyle/>
          <a:p>
            <a:pPr>
              <a:defRPr sz="2400" b="1">
                <a:solidFill>
                  <a:srgbClr val="FFFFFF"/>
                </a:solidFill>
              </a:defRPr>
            </a:pPr>
            <a:r>
              <a:t>Executive Summary &amp; Project Objectives</a:t>
            </a:r>
          </a:p>
        </p:txBody>
      </p:sp>
      <p:sp>
        <p:nvSpPr>
          <p:cNvPr id="6" name="Rounded Rectangle 5"/>
          <p:cNvSpPr/>
          <p:nvPr/>
        </p:nvSpPr>
        <p:spPr>
          <a:xfrm>
            <a:off x="731520" y="1463040"/>
            <a:ext cx="512064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45920"/>
            <a:ext cx="4572000" cy="457200"/>
          </a:xfrm>
          <a:prstGeom prst="rect">
            <a:avLst/>
          </a:prstGeom>
          <a:noFill/>
        </p:spPr>
        <p:txBody>
          <a:bodyPr wrap="none">
            <a:spAutoFit/>
          </a:bodyPr>
          <a:lstStyle/>
          <a:p>
            <a:pPr>
              <a:defRPr sz="1800" b="1">
                <a:solidFill>
                  <a:srgbClr val="0EA5E9"/>
                </a:solidFill>
              </a:defRPr>
            </a:pPr>
            <a:r>
              <a:t>The SDN Security Challenge</a:t>
            </a:r>
          </a:p>
        </p:txBody>
      </p:sp>
      <p:sp>
        <p:nvSpPr>
          <p:cNvPr id="8" name="TextBox 7"/>
          <p:cNvSpPr txBox="1"/>
          <p:nvPr/>
        </p:nvSpPr>
        <p:spPr>
          <a:xfrm>
            <a:off x="1005840" y="2194560"/>
            <a:ext cx="4572000" cy="3657600"/>
          </a:xfrm>
          <a:prstGeom prst="rect">
            <a:avLst/>
          </a:prstGeom>
          <a:noFill/>
        </p:spPr>
        <p:txBody>
          <a:bodyPr wrap="square" tIns="91440">
            <a:spAutoFit/>
          </a:bodyPr>
          <a:lstStyle/>
          <a:p>
            <a:pPr>
              <a:spcAft>
                <a:spcPts val="1200"/>
              </a:spcAft>
            </a:pPr>
            <a:r>
              <a:rPr b="1" sz="1200">
                <a:solidFill>
                  <a:srgbClr val="0EA5E9"/>
                </a:solidFill>
              </a:rPr>
              <a:t>Control Plane Saturation: </a:t>
            </a:r>
            <a:r>
              <a:rPr sz="1200">
                <a:solidFill>
                  <a:srgbClr val="FFFFFF"/>
                </a:solidFill>
              </a:rPr>
              <a:t>DDoS floods exhaust OpenFlow channel bandwidth and controller CPU through rapid Packet-In requests.</a:t>
            </a:r>
          </a:p>
          <a:p>
            <a:pPr>
              <a:spcAft>
                <a:spcPts val="1200"/>
              </a:spcAft>
            </a:pPr>
            <a:r>
              <a:rPr b="1" sz="1200">
                <a:solidFill>
                  <a:srgbClr val="0EA5E9"/>
                </a:solidFill>
              </a:rPr>
              <a:t>Multi-Vector Diversity: </a:t>
            </a:r>
            <a:r>
              <a:rPr sz="1200">
                <a:solidFill>
                  <a:srgbClr val="FFFFFF"/>
                </a:solidFill>
              </a:rPr>
              <a:t>Attackers deploy reflection (DNS, NTP, SNMP, TFTP) and protocol floods (SYN, UDP-lag) simultaneously.</a:t>
            </a:r>
          </a:p>
          <a:p>
            <a:pPr>
              <a:spcAft>
                <a:spcPts val="1200"/>
              </a:spcAft>
            </a:pPr>
            <a:r>
              <a:rPr b="1" sz="1200">
                <a:solidFill>
                  <a:srgbClr val="0EA5E9"/>
                </a:solidFill>
              </a:rPr>
              <a:t>Strict Real-Time SLA: </a:t>
            </a:r>
            <a:r>
              <a:rPr sz="1200">
                <a:solidFill>
                  <a:srgbClr val="FFFFFF"/>
                </a:solidFill>
              </a:rPr>
              <a:t>SDN switches require flow decisions in under 5.0 ms to prevent line-rate buffer drops.</a:t>
            </a:r>
          </a:p>
          <a:p>
            <a:pPr>
              <a:spcAft>
                <a:spcPts val="1200"/>
              </a:spcAft>
            </a:pPr>
            <a:r>
              <a:rPr b="1" sz="1200">
                <a:solidFill>
                  <a:srgbClr val="0EA5E9"/>
                </a:solidFill>
              </a:rPr>
              <a:t>Zero False-Drop Tolerance: </a:t>
            </a:r>
            <a:r>
              <a:rPr sz="1200">
                <a:solidFill>
                  <a:srgbClr val="FFFFFF"/>
                </a:solidFill>
              </a:rPr>
              <a:t>Benign enterprise traffic must not be dropped; requires ultra-low False Positive Rates (FPR &lt; 0.1%).</a:t>
            </a:r>
          </a:p>
        </p:txBody>
      </p:sp>
      <p:sp>
        <p:nvSpPr>
          <p:cNvPr id="9" name="Rounded Rectangle 8"/>
          <p:cNvSpPr/>
          <p:nvPr/>
        </p:nvSpPr>
        <p:spPr>
          <a:xfrm>
            <a:off x="6217920" y="1463040"/>
            <a:ext cx="521208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645920"/>
            <a:ext cx="4572000" cy="457200"/>
          </a:xfrm>
          <a:prstGeom prst="rect">
            <a:avLst/>
          </a:prstGeom>
          <a:noFill/>
        </p:spPr>
        <p:txBody>
          <a:bodyPr wrap="none">
            <a:spAutoFit/>
          </a:bodyPr>
          <a:lstStyle/>
          <a:p>
            <a:pPr>
              <a:defRPr sz="1800" b="1">
                <a:solidFill>
                  <a:srgbClr val="10B981"/>
                </a:solidFill>
              </a:defRPr>
            </a:pPr>
            <a:r>
              <a:t>Core Technical Objectives</a:t>
            </a:r>
          </a:p>
        </p:txBody>
      </p:sp>
      <p:sp>
        <p:nvSpPr>
          <p:cNvPr id="11" name="TextBox 10"/>
          <p:cNvSpPr txBox="1"/>
          <p:nvPr/>
        </p:nvSpPr>
        <p:spPr>
          <a:xfrm>
            <a:off x="6492240" y="2194560"/>
            <a:ext cx="4572000" cy="3657600"/>
          </a:xfrm>
          <a:prstGeom prst="rect">
            <a:avLst/>
          </a:prstGeom>
          <a:noFill/>
        </p:spPr>
        <p:txBody>
          <a:bodyPr wrap="square" tIns="91440">
            <a:spAutoFit/>
          </a:bodyPr>
          <a:lstStyle/>
          <a:p>
            <a:pPr>
              <a:spcAft>
                <a:spcPts val="1200"/>
              </a:spcAft>
            </a:pPr>
            <a:r>
              <a:rPr b="1" sz="1200">
                <a:solidFill>
                  <a:srgbClr val="0EA5E9"/>
                </a:solidFill>
              </a:rPr>
              <a:t>Automated Ingestion: </a:t>
            </a:r>
            <a:r>
              <a:rPr sz="1200">
                <a:solidFill>
                  <a:srgbClr val="FFFFFF"/>
                </a:solidFill>
              </a:rPr>
              <a:t>Stream, clean, deduplicate, and balance 11 attack categories into 22 optimized Parquet splits.</a:t>
            </a:r>
          </a:p>
          <a:p>
            <a:pPr>
              <a:spcAft>
                <a:spcPts val="1200"/>
              </a:spcAft>
            </a:pPr>
            <a:r>
              <a:rPr b="1" sz="1200">
                <a:solidFill>
                  <a:srgbClr val="0EA5E9"/>
                </a:solidFill>
              </a:rPr>
              <a:t>Statistical Feature Selection: </a:t>
            </a:r>
            <a:r>
              <a:rPr sz="1200">
                <a:solidFill>
                  <a:srgbClr val="FFFFFF"/>
                </a:solidFill>
              </a:rPr>
              <a:t>Reduce 81 raw flow dimensions to the top 28 features via ANOVA F-test without data leakage.</a:t>
            </a:r>
          </a:p>
          <a:p>
            <a:pPr>
              <a:spcAft>
                <a:spcPts val="1200"/>
              </a:spcAft>
            </a:pPr>
            <a:r>
              <a:rPr b="1" sz="1200">
                <a:solidFill>
                  <a:srgbClr val="0EA5E9"/>
                </a:solidFill>
              </a:rPr>
              <a:t>Dual-Paradigm Modeling: </a:t>
            </a:r>
            <a:r>
              <a:rPr sz="1200">
                <a:solidFill>
                  <a:srgbClr val="FFFFFF"/>
                </a:solidFill>
              </a:rPr>
              <a:t>Train 4 multi-threaded tabular algorithms alongside a 3D temporal sequence LSTM on GPU.</a:t>
            </a:r>
          </a:p>
          <a:p>
            <a:pPr>
              <a:spcAft>
                <a:spcPts val="1200"/>
              </a:spcAft>
            </a:pPr>
            <a:r>
              <a:rPr b="1" sz="1200">
                <a:solidFill>
                  <a:srgbClr val="0EA5E9"/>
                </a:solidFill>
              </a:rPr>
              <a:t>Ryu Controller Deployment: </a:t>
            </a:r>
            <a:r>
              <a:rPr sz="1200">
                <a:solidFill>
                  <a:srgbClr val="FFFFFF"/>
                </a:solidFill>
              </a:rPr>
              <a:t>Package the top model into a sub-millisecond predict_packet() function for zero-delay mitigation.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228600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9144000" cy="274320"/>
          </a:xfrm>
          <a:prstGeom prst="rect">
            <a:avLst/>
          </a:prstGeom>
          <a:noFill/>
        </p:spPr>
        <p:txBody>
          <a:bodyPr wrap="square">
            <a:spAutoFit/>
          </a:bodyPr>
          <a:lstStyle/>
          <a:p>
            <a:pPr>
              <a:defRPr sz="1000" b="1">
                <a:solidFill>
                  <a:srgbClr val="0EA5E9"/>
                </a:solidFill>
              </a:defRPr>
            </a:pPr>
            <a:r>
              <a:t>ARCHITECTURE &amp; CONSTRAINTS</a:t>
            </a:r>
          </a:p>
        </p:txBody>
      </p:sp>
      <p:sp>
        <p:nvSpPr>
          <p:cNvPr id="5" name="TextBox 4"/>
          <p:cNvSpPr txBox="1"/>
          <p:nvPr/>
        </p:nvSpPr>
        <p:spPr>
          <a:xfrm>
            <a:off x="731520" y="685800"/>
            <a:ext cx="10698480" cy="640080"/>
          </a:xfrm>
          <a:prstGeom prst="rect">
            <a:avLst/>
          </a:prstGeom>
          <a:noFill/>
        </p:spPr>
        <p:txBody>
          <a:bodyPr wrap="square">
            <a:spAutoFit/>
          </a:bodyPr>
          <a:lstStyle/>
          <a:p>
            <a:pPr>
              <a:defRPr sz="2400" b="1">
                <a:solidFill>
                  <a:srgbClr val="FFFFFF"/>
                </a:solidFill>
              </a:defRPr>
            </a:pPr>
            <a:r>
              <a:t>System Architecture &amp; Hardware Profile</a:t>
            </a:r>
          </a:p>
        </p:txBody>
      </p:sp>
      <p:sp>
        <p:nvSpPr>
          <p:cNvPr id="6" name="Rounded Rectangle 5"/>
          <p:cNvSpPr/>
          <p:nvPr/>
        </p:nvSpPr>
        <p:spPr>
          <a:xfrm>
            <a:off x="731520" y="1463040"/>
            <a:ext cx="329184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297680" y="1463040"/>
            <a:ext cx="347472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046720" y="1463040"/>
            <a:ext cx="338328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645920"/>
            <a:ext cx="2926080" cy="457200"/>
          </a:xfrm>
          <a:prstGeom prst="rect">
            <a:avLst/>
          </a:prstGeom>
          <a:noFill/>
        </p:spPr>
        <p:txBody>
          <a:bodyPr wrap="none">
            <a:spAutoFit/>
          </a:bodyPr>
          <a:lstStyle/>
          <a:p>
            <a:pPr>
              <a:defRPr sz="1600" b="1">
                <a:solidFill>
                  <a:srgbClr val="0EA5E9"/>
                </a:solidFill>
              </a:defRPr>
            </a:pPr>
            <a:r>
              <a:t>1. Local Hardware Profile</a:t>
            </a:r>
          </a:p>
        </p:txBody>
      </p:sp>
      <p:sp>
        <p:nvSpPr>
          <p:cNvPr id="10" name="TextBox 9"/>
          <p:cNvSpPr txBox="1"/>
          <p:nvPr/>
        </p:nvSpPr>
        <p:spPr>
          <a:xfrm>
            <a:off x="914400" y="2194560"/>
            <a:ext cx="2926080" cy="3840480"/>
          </a:xfrm>
          <a:prstGeom prst="rect">
            <a:avLst/>
          </a:prstGeom>
          <a:noFill/>
        </p:spPr>
        <p:txBody>
          <a:bodyPr wrap="square" tIns="91440">
            <a:spAutoFit/>
          </a:bodyPr>
          <a:lstStyle/>
          <a:p>
            <a:pPr>
              <a:spcAft>
                <a:spcPts val="800"/>
              </a:spcAft>
            </a:pPr>
            <a:r>
              <a:rPr b="1" sz="1100">
                <a:solidFill>
                  <a:srgbClr val="0EA5E9"/>
                </a:solidFill>
              </a:rPr>
              <a:t>Host RAM: </a:t>
            </a:r>
            <a:r>
              <a:rPr sz="1100">
                <a:solidFill>
                  <a:srgbClr val="FFFFFF"/>
                </a:solidFill>
              </a:rPr>
              <a:t>16 GB DDR4/DDR5</a:t>
            </a:r>
          </a:p>
          <a:p>
            <a:pPr>
              <a:spcAft>
                <a:spcPts val="800"/>
              </a:spcAft>
            </a:pPr>
            <a:r>
              <a:rPr b="1" sz="1100">
                <a:solidFill>
                  <a:srgbClr val="0EA5E9"/>
                </a:solidFill>
              </a:rPr>
              <a:t>Memory Optimization: </a:t>
            </a:r>
            <a:r>
              <a:rPr sz="1100">
                <a:solidFill>
                  <a:srgbClr val="FFFFFF"/>
                </a:solidFill>
              </a:rPr>
              <a:t>Chunked streaming (50k rows) + float32/int32 downcasting saving 50% RAM.</a:t>
            </a:r>
          </a:p>
          <a:p>
            <a:pPr>
              <a:spcAft>
                <a:spcPts val="800"/>
              </a:spcAft>
            </a:pPr>
            <a:r>
              <a:rPr b="1" sz="1100">
                <a:solidFill>
                  <a:srgbClr val="0EA5E9"/>
                </a:solidFill>
              </a:rPr>
              <a:t>GPU Accelerator: </a:t>
            </a:r>
            <a:r>
              <a:rPr sz="1100">
                <a:solidFill>
                  <a:srgbClr val="FFFFFF"/>
                </a:solidFill>
              </a:rPr>
              <a:t>NVIDIA RTX 5050 (8GB VRAM)</a:t>
            </a:r>
          </a:p>
          <a:p>
            <a:pPr>
              <a:spcAft>
                <a:spcPts val="800"/>
              </a:spcAft>
            </a:pPr>
            <a:r>
              <a:rPr b="1" sz="1100">
                <a:solidFill>
                  <a:srgbClr val="0EA5E9"/>
                </a:solidFill>
              </a:rPr>
              <a:t>VRAM Optimization: </a:t>
            </a:r>
            <a:r>
              <a:rPr sz="1100">
                <a:solidFill>
                  <a:srgbClr val="FFFFFF"/>
                </a:solidFill>
              </a:rPr>
              <a:t>Dynamic GPU memory growth + 256 mini-batching prevents OOM crashes.</a:t>
            </a:r>
          </a:p>
          <a:p>
            <a:pPr>
              <a:spcAft>
                <a:spcPts val="800"/>
              </a:spcAft>
            </a:pPr>
            <a:r>
              <a:rPr b="1" sz="1100">
                <a:solidFill>
                  <a:srgbClr val="0EA5E9"/>
                </a:solidFill>
              </a:rPr>
              <a:t>CPU Multiprocessing: </a:t>
            </a:r>
            <a:r>
              <a:rPr sz="1100">
                <a:solidFill>
                  <a:srgbClr val="FFFFFF"/>
                </a:solidFill>
              </a:rPr>
              <a:t>Configured n_jobs=-1 across all multi-core tabular estimators.</a:t>
            </a:r>
          </a:p>
        </p:txBody>
      </p:sp>
      <p:sp>
        <p:nvSpPr>
          <p:cNvPr id="11" name="TextBox 10"/>
          <p:cNvSpPr txBox="1"/>
          <p:nvPr/>
        </p:nvSpPr>
        <p:spPr>
          <a:xfrm>
            <a:off x="4480560" y="1645920"/>
            <a:ext cx="3108960" cy="457200"/>
          </a:xfrm>
          <a:prstGeom prst="rect">
            <a:avLst/>
          </a:prstGeom>
          <a:noFill/>
        </p:spPr>
        <p:txBody>
          <a:bodyPr wrap="none">
            <a:spAutoFit/>
          </a:bodyPr>
          <a:lstStyle/>
          <a:p>
            <a:pPr>
              <a:defRPr sz="1600" b="1">
                <a:solidFill>
                  <a:srgbClr val="10B981"/>
                </a:solidFill>
              </a:defRPr>
            </a:pPr>
            <a:r>
              <a:t>2. ML Pipeline Stages</a:t>
            </a:r>
          </a:p>
        </p:txBody>
      </p:sp>
      <p:sp>
        <p:nvSpPr>
          <p:cNvPr id="12" name="TextBox 11"/>
          <p:cNvSpPr txBox="1"/>
          <p:nvPr/>
        </p:nvSpPr>
        <p:spPr>
          <a:xfrm>
            <a:off x="4480560" y="2194560"/>
            <a:ext cx="3108960" cy="3840480"/>
          </a:xfrm>
          <a:prstGeom prst="rect">
            <a:avLst/>
          </a:prstGeom>
          <a:noFill/>
        </p:spPr>
        <p:txBody>
          <a:bodyPr wrap="square" tIns="91440">
            <a:spAutoFit/>
          </a:bodyPr>
          <a:lstStyle/>
          <a:p>
            <a:pPr>
              <a:spcAft>
                <a:spcPts val="800"/>
              </a:spcAft>
            </a:pPr>
            <a:r>
              <a:rPr b="1" sz="1100">
                <a:solidFill>
                  <a:srgbClr val="0EA5E9"/>
                </a:solidFill>
              </a:rPr>
              <a:t>Phase 1: Ingestion: </a:t>
            </a:r>
            <a:r>
              <a:rPr sz="1100">
                <a:solidFill>
                  <a:srgbClr val="FFFFFF"/>
                </a:solidFill>
              </a:rPr>
              <a:t>22 balanced Parquet splits + ANOVA F-test (top 28 features).</a:t>
            </a:r>
          </a:p>
          <a:p>
            <a:pPr>
              <a:spcAft>
                <a:spcPts val="800"/>
              </a:spcAft>
            </a:pPr>
            <a:r>
              <a:rPr b="1" sz="1100">
                <a:solidFill>
                  <a:srgbClr val="0EA5E9"/>
                </a:solidFill>
              </a:rPr>
              <a:t>Phase 2: Tabular: </a:t>
            </a:r>
            <a:r>
              <a:rPr sz="1100">
                <a:solidFill>
                  <a:srgbClr val="FFFFFF"/>
                </a:solidFill>
              </a:rPr>
              <a:t>Logistic Regression, Decision Tree, Random Forest, XGBoost.</a:t>
            </a:r>
          </a:p>
          <a:p>
            <a:pPr>
              <a:spcAft>
                <a:spcPts val="800"/>
              </a:spcAft>
            </a:pPr>
            <a:r>
              <a:rPr b="1" sz="1100">
                <a:solidFill>
                  <a:srgbClr val="0EA5E9"/>
                </a:solidFill>
              </a:rPr>
              <a:t>Phase 3: Sequence: </a:t>
            </a:r>
            <a:r>
              <a:rPr sz="1100">
                <a:solidFill>
                  <a:srgbClr val="FFFFFF"/>
                </a:solidFill>
              </a:rPr>
              <a:t>3D sliding temporal reshape + 2-layer LSTM on RTX 5050.</a:t>
            </a:r>
          </a:p>
          <a:p>
            <a:pPr>
              <a:spcAft>
                <a:spcPts val="800"/>
              </a:spcAft>
            </a:pPr>
            <a:r>
              <a:rPr b="1" sz="1100">
                <a:solidFill>
                  <a:srgbClr val="0EA5E9"/>
                </a:solidFill>
              </a:rPr>
              <a:t>Phase 4: Evaluation: </a:t>
            </a:r>
            <a:r>
              <a:rPr sz="1100">
                <a:solidFill>
                  <a:srgbClr val="FFFFFF"/>
                </a:solidFill>
              </a:rPr>
              <a:t>Latency profiling, FPR, Blinded zero-day test &amp; 6 visual plots.</a:t>
            </a:r>
          </a:p>
          <a:p>
            <a:pPr>
              <a:spcAft>
                <a:spcPts val="800"/>
              </a:spcAft>
            </a:pPr>
            <a:r>
              <a:rPr b="1" sz="1100">
                <a:solidFill>
                  <a:srgbClr val="0EA5E9"/>
                </a:solidFill>
              </a:rPr>
              <a:t>Phase 5: Packaging: </a:t>
            </a:r>
            <a:r>
              <a:rPr sz="1100">
                <a:solidFill>
                  <a:srgbClr val="FFFFFF"/>
                </a:solidFill>
              </a:rPr>
              <a:t>Serialized joblib/keras weights &amp; standalone predict.py.</a:t>
            </a:r>
          </a:p>
        </p:txBody>
      </p:sp>
      <p:sp>
        <p:nvSpPr>
          <p:cNvPr id="13" name="TextBox 12"/>
          <p:cNvSpPr txBox="1"/>
          <p:nvPr/>
        </p:nvSpPr>
        <p:spPr>
          <a:xfrm>
            <a:off x="8229600" y="1645920"/>
            <a:ext cx="3017520" cy="457200"/>
          </a:xfrm>
          <a:prstGeom prst="rect">
            <a:avLst/>
          </a:prstGeom>
          <a:noFill/>
        </p:spPr>
        <p:txBody>
          <a:bodyPr wrap="none">
            <a:spAutoFit/>
          </a:bodyPr>
          <a:lstStyle/>
          <a:p>
            <a:pPr>
              <a:defRPr sz="1600" b="1">
                <a:solidFill>
                  <a:srgbClr val="F59E0B"/>
                </a:solidFill>
              </a:defRPr>
            </a:pPr>
            <a:r>
              <a:t>3. SDN Control Plane</a:t>
            </a:r>
          </a:p>
        </p:txBody>
      </p:sp>
      <p:sp>
        <p:nvSpPr>
          <p:cNvPr id="14" name="TextBox 13"/>
          <p:cNvSpPr txBox="1"/>
          <p:nvPr/>
        </p:nvSpPr>
        <p:spPr>
          <a:xfrm>
            <a:off x="8229600" y="2194560"/>
            <a:ext cx="3017520" cy="3840480"/>
          </a:xfrm>
          <a:prstGeom prst="rect">
            <a:avLst/>
          </a:prstGeom>
          <a:noFill/>
        </p:spPr>
        <p:txBody>
          <a:bodyPr wrap="square" tIns="91440">
            <a:spAutoFit/>
          </a:bodyPr>
          <a:lstStyle/>
          <a:p>
            <a:pPr>
              <a:spcAft>
                <a:spcPts val="800"/>
              </a:spcAft>
            </a:pPr>
            <a:r>
              <a:rPr b="1" sz="1100">
                <a:solidFill>
                  <a:srgbClr val="0EA5E9"/>
                </a:solidFill>
              </a:rPr>
              <a:t>Ryu Controller: </a:t>
            </a:r>
            <a:r>
              <a:rPr sz="1100">
                <a:solidFill>
                  <a:srgbClr val="FFFFFF"/>
                </a:solidFill>
              </a:rPr>
              <a:t>OpenFlow 1.3 asynchronous event-driven controller.</a:t>
            </a:r>
          </a:p>
          <a:p>
            <a:pPr>
              <a:spcAft>
                <a:spcPts val="800"/>
              </a:spcAft>
            </a:pPr>
            <a:r>
              <a:rPr b="1" sz="1100">
                <a:solidFill>
                  <a:srgbClr val="0EA5E9"/>
                </a:solidFill>
              </a:rPr>
              <a:t>Telemetry Extractor: </a:t>
            </a:r>
            <a:r>
              <a:rPr sz="1100">
                <a:solidFill>
                  <a:srgbClr val="FFFFFF"/>
                </a:solidFill>
              </a:rPr>
              <a:t>Extracts bidirectional flow stats from OFPFlowStatsReply events.</a:t>
            </a:r>
          </a:p>
          <a:p>
            <a:pPr>
              <a:spcAft>
                <a:spcPts val="800"/>
              </a:spcAft>
            </a:pPr>
            <a:r>
              <a:rPr b="1" sz="1100">
                <a:solidFill>
                  <a:srgbClr val="0EA5E9"/>
                </a:solidFill>
              </a:rPr>
              <a:t>Fast-Path Inference: </a:t>
            </a:r>
            <a:r>
              <a:rPr sz="1100">
                <a:solidFill>
                  <a:srgbClr val="FFFFFF"/>
                </a:solidFill>
              </a:rPr>
              <a:t>In-memory cached scaler and model classifies in &lt; 0.6 ms.</a:t>
            </a:r>
          </a:p>
          <a:p>
            <a:pPr>
              <a:spcAft>
                <a:spcPts val="800"/>
              </a:spcAft>
            </a:pPr>
            <a:r>
              <a:rPr b="1" sz="1100">
                <a:solidFill>
                  <a:srgbClr val="0EA5E9"/>
                </a:solidFill>
              </a:rPr>
              <a:t>Automated Mitigation: </a:t>
            </a:r>
            <a:r>
              <a:rPr sz="1100">
                <a:solidFill>
                  <a:srgbClr val="FFFFFF"/>
                </a:solidFill>
              </a:rPr>
              <a:t>Installs prioritized OpenFlow Drop rules (OFPFlowMod) to isolate attackers.</a:t>
            </a:r>
          </a:p>
          <a:p>
            <a:pPr>
              <a:spcAft>
                <a:spcPts val="800"/>
              </a:spcAft>
            </a:pPr>
            <a:r>
              <a:rPr b="1" sz="1100">
                <a:solidFill>
                  <a:srgbClr val="0EA5E9"/>
                </a:solidFill>
              </a:rPr>
              <a:t>Controller Health: </a:t>
            </a:r>
            <a:r>
              <a:rPr sz="1100">
                <a:solidFill>
                  <a:srgbClr val="FFFFFF"/>
                </a:solidFill>
              </a:rPr>
              <a:t>Zero packet queue build-up; high availability sustained.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228600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9144000" cy="274320"/>
          </a:xfrm>
          <a:prstGeom prst="rect">
            <a:avLst/>
          </a:prstGeom>
          <a:noFill/>
        </p:spPr>
        <p:txBody>
          <a:bodyPr wrap="square">
            <a:spAutoFit/>
          </a:bodyPr>
          <a:lstStyle/>
          <a:p>
            <a:pPr>
              <a:defRPr sz="1000" b="1">
                <a:solidFill>
                  <a:srgbClr val="0EA5E9"/>
                </a:solidFill>
              </a:defRPr>
            </a:pPr>
            <a:r>
              <a:t>PHASE 1: DATA PIPELINE</a:t>
            </a:r>
          </a:p>
        </p:txBody>
      </p:sp>
      <p:sp>
        <p:nvSpPr>
          <p:cNvPr id="5" name="TextBox 4"/>
          <p:cNvSpPr txBox="1"/>
          <p:nvPr/>
        </p:nvSpPr>
        <p:spPr>
          <a:xfrm>
            <a:off x="731520" y="685800"/>
            <a:ext cx="10698480" cy="640080"/>
          </a:xfrm>
          <a:prstGeom prst="rect">
            <a:avLst/>
          </a:prstGeom>
          <a:noFill/>
        </p:spPr>
        <p:txBody>
          <a:bodyPr wrap="square">
            <a:spAutoFit/>
          </a:bodyPr>
          <a:lstStyle/>
          <a:p>
            <a:pPr>
              <a:defRPr sz="2400" b="1">
                <a:solidFill>
                  <a:srgbClr val="FFFFFF"/>
                </a:solidFill>
              </a:defRPr>
            </a:pPr>
            <a:r>
              <a:t>Dataset Preprocessing &amp; 70/30 Parquet Splitting</a:t>
            </a:r>
          </a:p>
        </p:txBody>
      </p:sp>
      <p:sp>
        <p:nvSpPr>
          <p:cNvPr id="6" name="Rounded Rectangle 5"/>
          <p:cNvSpPr/>
          <p:nvPr/>
        </p:nvSpPr>
        <p:spPr>
          <a:xfrm>
            <a:off x="731520" y="1463040"/>
            <a:ext cx="530352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45920"/>
            <a:ext cx="4754880" cy="457200"/>
          </a:xfrm>
          <a:prstGeom prst="rect">
            <a:avLst/>
          </a:prstGeom>
          <a:noFill/>
        </p:spPr>
        <p:txBody>
          <a:bodyPr wrap="none">
            <a:spAutoFit/>
          </a:bodyPr>
          <a:lstStyle/>
          <a:p>
            <a:pPr>
              <a:defRPr sz="1800" b="1">
                <a:solidFill>
                  <a:srgbClr val="0EA5E9"/>
                </a:solidFill>
              </a:defRPr>
            </a:pPr>
            <a:r>
              <a:t>Data Cleaning &amp; Noise Removal</a:t>
            </a:r>
          </a:p>
        </p:txBody>
      </p:sp>
      <p:sp>
        <p:nvSpPr>
          <p:cNvPr id="8" name="TextBox 7"/>
          <p:cNvSpPr txBox="1"/>
          <p:nvPr/>
        </p:nvSpPr>
        <p:spPr>
          <a:xfrm>
            <a:off x="1005840" y="2194560"/>
            <a:ext cx="4754880" cy="3840480"/>
          </a:xfrm>
          <a:prstGeom prst="rect">
            <a:avLst/>
          </a:prstGeom>
          <a:noFill/>
        </p:spPr>
        <p:txBody>
          <a:bodyPr wrap="square" tIns="91440">
            <a:spAutoFit/>
          </a:bodyPr>
          <a:lstStyle/>
          <a:p>
            <a:pPr>
              <a:spcAft>
                <a:spcPts val="1200"/>
              </a:spcAft>
            </a:pPr>
            <a:r>
              <a:rPr b="1" sz="1200">
                <a:solidFill>
                  <a:srgbClr val="0EA5E9"/>
                </a:solidFill>
              </a:rPr>
              <a:t>Metadata Noise Stripping: </a:t>
            </a:r>
            <a:r>
              <a:rPr sz="1200">
                <a:solidFill>
                  <a:srgbClr val="FFFFFF"/>
                </a:solidFill>
              </a:rPr>
              <a:t>Dropped non-generalizable artifacts (Flow ID, Source/Dest IP, Timestamp, SimillarHTTP, Unnamed: 0) to avoid memorization.</a:t>
            </a:r>
          </a:p>
          <a:p>
            <a:pPr>
              <a:spcAft>
                <a:spcPts val="1200"/>
              </a:spcAft>
            </a:pPr>
            <a:r>
              <a:rPr b="1" sz="1200">
                <a:solidFill>
                  <a:srgbClr val="0EA5E9"/>
                </a:solidFill>
              </a:rPr>
              <a:t>Mathematical Anomaly Imputation: </a:t>
            </a:r>
            <a:r>
              <a:rPr sz="1200">
                <a:solidFill>
                  <a:srgbClr val="FFFFFF"/>
                </a:solidFill>
              </a:rPr>
              <a:t>Replaced +inf/-inf and NaN division errors in flow rates with training column medians.</a:t>
            </a:r>
          </a:p>
          <a:p>
            <a:pPr>
              <a:spcAft>
                <a:spcPts val="1200"/>
              </a:spcAft>
            </a:pPr>
            <a:r>
              <a:rPr b="1" sz="1200">
                <a:solidFill>
                  <a:srgbClr val="0EA5E9"/>
                </a:solidFill>
              </a:rPr>
              <a:t>Retransmission Deduplication: </a:t>
            </a:r>
            <a:r>
              <a:rPr sz="1200">
                <a:solidFill>
                  <a:srgbClr val="FFFFFF"/>
                </a:solidFill>
              </a:rPr>
              <a:t>Eliminated redundant duplicated flow captures via .drop_duplicates().</a:t>
            </a:r>
          </a:p>
          <a:p>
            <a:pPr>
              <a:spcAft>
                <a:spcPts val="1200"/>
              </a:spcAft>
            </a:pPr>
            <a:r>
              <a:rPr b="1" sz="1200">
                <a:solidFill>
                  <a:srgbClr val="0EA5E9"/>
                </a:solidFill>
              </a:rPr>
              <a:t>Class Balancing: </a:t>
            </a:r>
            <a:r>
              <a:rPr sz="1200">
                <a:solidFill>
                  <a:srgbClr val="FFFFFF"/>
                </a:solidFill>
              </a:rPr>
              <a:t>Equalized BENIGN and DDoS distributions per category to avoid majority attack bias.</a:t>
            </a:r>
          </a:p>
          <a:p>
            <a:pPr>
              <a:spcAft>
                <a:spcPts val="1200"/>
              </a:spcAft>
            </a:pPr>
            <a:r>
              <a:rPr b="1" sz="1200">
                <a:solidFill>
                  <a:srgbClr val="0EA5E9"/>
                </a:solidFill>
              </a:rPr>
              <a:t>Zero Data Leakage: </a:t>
            </a:r>
            <a:r>
              <a:rPr sz="1200">
                <a:solidFill>
                  <a:srgbClr val="FFFFFF"/>
                </a:solidFill>
              </a:rPr>
              <a:t>Strictly fit scalers and imputers on the 70% training split only.</a:t>
            </a:r>
          </a:p>
        </p:txBody>
      </p:sp>
      <p:graphicFrame>
        <p:nvGraphicFramePr>
          <p:cNvPr id="9" name="Table 8"/>
          <p:cNvGraphicFramePr>
            <a:graphicFrameLocks noGrp="1"/>
          </p:cNvGraphicFramePr>
          <p:nvPr/>
        </p:nvGraphicFramePr>
        <p:xfrm>
          <a:off x="6309360" y="1463040"/>
          <a:ext cx="5120640" cy="4754880"/>
        </p:xfrm>
        <a:graphic>
          <a:graphicData uri="http://schemas.openxmlformats.org/drawingml/2006/table">
            <a:tbl>
              <a:tblPr firstRow="1" bandRow="1">
                <a:tableStyleId>{5C22544A-7EE6-4342-B048-85BDC9FD1C3A}</a:tableStyleId>
              </a:tblPr>
              <a:tblGrid>
                <a:gridCol w="2103120"/>
                <a:gridCol w="1005840"/>
                <a:gridCol w="1005840"/>
                <a:gridCol w="1005840"/>
              </a:tblGrid>
              <a:tr h="396240">
                <a:tc>
                  <a:txBody>
                    <a:bodyPr/>
                    <a:lstStyle/>
                    <a:p>
                      <a:pPr algn="ctr">
                        <a:defRPr b="1" sz="1100">
                          <a:solidFill>
                            <a:srgbClr val="0F172A"/>
                          </a:solidFill>
                        </a:defRPr>
                      </a:pPr>
                      <a:r>
                        <a:t>Dataset Category</a:t>
                      </a:r>
                    </a:p>
                  </a:txBody>
                  <a:tcPr anchor="ctr">
                    <a:solidFill>
                      <a:srgbClr val="0EA5E9"/>
                    </a:solidFill>
                  </a:tcPr>
                </a:tc>
                <a:tc>
                  <a:txBody>
                    <a:bodyPr/>
                    <a:lstStyle/>
                    <a:p>
                      <a:pPr algn="ctr">
                        <a:defRPr b="1" sz="1100">
                          <a:solidFill>
                            <a:srgbClr val="0F172A"/>
                          </a:solidFill>
                        </a:defRPr>
                      </a:pPr>
                      <a:r>
                        <a:t>Train Split</a:t>
                      </a:r>
                    </a:p>
                  </a:txBody>
                  <a:tcPr anchor="ctr">
                    <a:solidFill>
                      <a:srgbClr val="0EA5E9"/>
                    </a:solidFill>
                  </a:tcPr>
                </a:tc>
                <a:tc>
                  <a:txBody>
                    <a:bodyPr/>
                    <a:lstStyle/>
                    <a:p>
                      <a:pPr algn="ctr">
                        <a:defRPr b="1" sz="1100">
                          <a:solidFill>
                            <a:srgbClr val="0F172A"/>
                          </a:solidFill>
                        </a:defRPr>
                      </a:pPr>
                      <a:r>
                        <a:t>Test Split</a:t>
                      </a:r>
                    </a:p>
                  </a:txBody>
                  <a:tcPr anchor="ctr">
                    <a:solidFill>
                      <a:srgbClr val="0EA5E9"/>
                    </a:solidFill>
                  </a:tcPr>
                </a:tc>
                <a:tc>
                  <a:txBody>
                    <a:bodyPr/>
                    <a:lstStyle/>
                    <a:p>
                      <a:pPr algn="ctr">
                        <a:defRPr b="1" sz="1100">
                          <a:solidFill>
                            <a:srgbClr val="0F172A"/>
                          </a:solidFill>
                        </a:defRPr>
                      </a:pPr>
                      <a:r>
                        <a:t>Status</a:t>
                      </a:r>
                    </a:p>
                  </a:txBody>
                  <a:tcPr anchor="ctr">
                    <a:solidFill>
                      <a:srgbClr val="0EA5E9"/>
                    </a:solidFill>
                  </a:tcPr>
                </a:tc>
              </a:tr>
              <a:tr h="396240">
                <a:tc>
                  <a:txBody>
                    <a:bodyPr/>
                    <a:lstStyle/>
                    <a:p>
                      <a:pPr algn="l">
                        <a:defRPr sz="1000" b="1">
                          <a:solidFill>
                            <a:srgbClr val="FFFFFF"/>
                          </a:solidFill>
                        </a:defRPr>
                      </a:pPr>
                      <a:r>
                        <a:t>DNS (DrDoS_DNS)</a:t>
                      </a:r>
                    </a:p>
                  </a:txBody>
                  <a:tcPr anchor="ctr">
                    <a:solidFill>
                      <a:srgbClr val="1E293B"/>
                    </a:solidFill>
                  </a:tcPr>
                </a:tc>
                <a:tc>
                  <a:txBody>
                    <a:bodyPr/>
                    <a:lstStyle/>
                    <a:p>
                      <a:pPr algn="ctr">
                        <a:defRPr sz="1000">
                          <a:solidFill>
                            <a:srgbClr val="FFFFFF"/>
                          </a:solidFill>
                        </a:defRPr>
                      </a:pPr>
                      <a:r>
                        <a:t>70% (30k rows)</a:t>
                      </a:r>
                    </a:p>
                  </a:txBody>
                  <a:tcPr anchor="ctr">
                    <a:solidFill>
                      <a:srgbClr val="1E293B"/>
                    </a:solidFill>
                  </a:tcPr>
                </a:tc>
                <a:tc>
                  <a:txBody>
                    <a:bodyPr/>
                    <a:lstStyle/>
                    <a:p>
                      <a:pPr algn="ctr">
                        <a:defRPr sz="1000">
                          <a:solidFill>
                            <a:srgbClr val="FFFFFF"/>
                          </a:solidFill>
                        </a:defRPr>
                      </a:pPr>
                      <a:r>
                        <a:t>30% (13k rows)</a:t>
                      </a:r>
                    </a:p>
                  </a:txBody>
                  <a:tcPr anchor="ctr">
                    <a:solidFill>
                      <a:srgbClr val="1E293B"/>
                    </a:solidFill>
                  </a:tcPr>
                </a:tc>
                <a:tc>
                  <a:txBody>
                    <a:bodyPr/>
                    <a:lstStyle/>
                    <a:p>
                      <a:pPr algn="ctr">
                        <a:defRPr sz="1000">
                          <a:solidFill>
                            <a:srgbClr val="FFFFFF"/>
                          </a:solidFill>
                        </a:defRPr>
                      </a:pPr>
                      <a:r>
                        <a:t>Balanced Parquet</a:t>
                      </a:r>
                    </a:p>
                  </a:txBody>
                  <a:tcPr anchor="ctr">
                    <a:solidFill>
                      <a:srgbClr val="1E293B"/>
                    </a:solidFill>
                  </a:tcPr>
                </a:tc>
              </a:tr>
              <a:tr h="396240">
                <a:tc>
                  <a:txBody>
                    <a:bodyPr/>
                    <a:lstStyle/>
                    <a:p>
                      <a:pPr algn="l">
                        <a:defRPr sz="1000" b="1">
                          <a:solidFill>
                            <a:srgbClr val="FFFFFF"/>
                          </a:solidFill>
                        </a:defRPr>
                      </a:pPr>
                      <a:r>
                        <a:t>LDAP (DrDoS_LDAP)</a:t>
                      </a:r>
                    </a:p>
                  </a:txBody>
                  <a:tcPr anchor="ctr">
                    <a:solidFill>
                      <a:srgbClr val="29364C"/>
                    </a:solidFill>
                  </a:tcPr>
                </a:tc>
                <a:tc>
                  <a:txBody>
                    <a:bodyPr/>
                    <a:lstStyle/>
                    <a:p>
                      <a:pPr algn="ctr">
                        <a:defRPr sz="1000">
                          <a:solidFill>
                            <a:srgbClr val="FFFFFF"/>
                          </a:solidFill>
                        </a:defRPr>
                      </a:pPr>
                      <a:r>
                        <a:t>70% (13k rows)</a:t>
                      </a:r>
                    </a:p>
                  </a:txBody>
                  <a:tcPr anchor="ctr">
                    <a:solidFill>
                      <a:srgbClr val="29364C"/>
                    </a:solidFill>
                  </a:tcPr>
                </a:tc>
                <a:tc>
                  <a:txBody>
                    <a:bodyPr/>
                    <a:lstStyle/>
                    <a:p>
                      <a:pPr algn="ctr">
                        <a:defRPr sz="1000">
                          <a:solidFill>
                            <a:srgbClr val="FFFFFF"/>
                          </a:solidFill>
                        </a:defRPr>
                      </a:pPr>
                      <a:r>
                        <a:t>30% (5.5k rows)</a:t>
                      </a:r>
                    </a:p>
                  </a:txBody>
                  <a:tcPr anchor="ctr">
                    <a:solidFill>
                      <a:srgbClr val="29364C"/>
                    </a:solidFill>
                  </a:tcPr>
                </a:tc>
                <a:tc>
                  <a:txBody>
                    <a:bodyPr/>
                    <a:lstStyle/>
                    <a:p>
                      <a:pPr algn="ctr">
                        <a:defRPr sz="1000">
                          <a:solidFill>
                            <a:srgbClr val="FFFFFF"/>
                          </a:solidFill>
                        </a:defRPr>
                      </a:pPr>
                      <a:r>
                        <a:t>Balanced Parquet</a:t>
                      </a:r>
                    </a:p>
                  </a:txBody>
                  <a:tcPr anchor="ctr">
                    <a:solidFill>
                      <a:srgbClr val="29364C"/>
                    </a:solidFill>
                  </a:tcPr>
                </a:tc>
              </a:tr>
              <a:tr h="396240">
                <a:tc>
                  <a:txBody>
                    <a:bodyPr/>
                    <a:lstStyle/>
                    <a:p>
                      <a:pPr algn="l">
                        <a:defRPr sz="1000" b="1">
                          <a:solidFill>
                            <a:srgbClr val="FFFFFF"/>
                          </a:solidFill>
                        </a:defRPr>
                      </a:pPr>
                      <a:r>
                        <a:t>MSSQL (DrDoS_MSSQL)</a:t>
                      </a:r>
                    </a:p>
                  </a:txBody>
                  <a:tcPr anchor="ctr">
                    <a:solidFill>
                      <a:srgbClr val="1E293B"/>
                    </a:solidFill>
                  </a:tcPr>
                </a:tc>
                <a:tc>
                  <a:txBody>
                    <a:bodyPr/>
                    <a:lstStyle/>
                    <a:p>
                      <a:pPr algn="ctr">
                        <a:defRPr sz="1000">
                          <a:solidFill>
                            <a:srgbClr val="FFFFFF"/>
                          </a:solidFill>
                        </a:defRPr>
                      </a:pPr>
                      <a:r>
                        <a:t>70% (17k rows)</a:t>
                      </a:r>
                    </a:p>
                  </a:txBody>
                  <a:tcPr anchor="ctr">
                    <a:solidFill>
                      <a:srgbClr val="1E293B"/>
                    </a:solidFill>
                  </a:tcPr>
                </a:tc>
                <a:tc>
                  <a:txBody>
                    <a:bodyPr/>
                    <a:lstStyle/>
                    <a:p>
                      <a:pPr algn="ctr">
                        <a:defRPr sz="1000">
                          <a:solidFill>
                            <a:srgbClr val="FFFFFF"/>
                          </a:solidFill>
                        </a:defRPr>
                      </a:pPr>
                      <a:r>
                        <a:t>30% (7.4k rows)</a:t>
                      </a:r>
                    </a:p>
                  </a:txBody>
                  <a:tcPr anchor="ctr">
                    <a:solidFill>
                      <a:srgbClr val="1E293B"/>
                    </a:solidFill>
                  </a:tcPr>
                </a:tc>
                <a:tc>
                  <a:txBody>
                    <a:bodyPr/>
                    <a:lstStyle/>
                    <a:p>
                      <a:pPr algn="ctr">
                        <a:defRPr sz="1000">
                          <a:solidFill>
                            <a:srgbClr val="FFFFFF"/>
                          </a:solidFill>
                        </a:defRPr>
                      </a:pPr>
                      <a:r>
                        <a:t>Balanced Parquet</a:t>
                      </a:r>
                    </a:p>
                  </a:txBody>
                  <a:tcPr anchor="ctr">
                    <a:solidFill>
                      <a:srgbClr val="1E293B"/>
                    </a:solidFill>
                  </a:tcPr>
                </a:tc>
              </a:tr>
              <a:tr h="396240">
                <a:tc>
                  <a:txBody>
                    <a:bodyPr/>
                    <a:lstStyle/>
                    <a:p>
                      <a:pPr algn="l">
                        <a:defRPr sz="1000" b="1">
                          <a:solidFill>
                            <a:srgbClr val="FFFFFF"/>
                          </a:solidFill>
                        </a:defRPr>
                      </a:pPr>
                      <a:r>
                        <a:t>NTP (DrDoS_NTP)</a:t>
                      </a:r>
                    </a:p>
                  </a:txBody>
                  <a:tcPr anchor="ctr">
                    <a:solidFill>
                      <a:srgbClr val="29364C"/>
                    </a:solidFill>
                  </a:tcPr>
                </a:tc>
                <a:tc>
                  <a:txBody>
                    <a:bodyPr/>
                    <a:lstStyle/>
                    <a:p>
                      <a:pPr algn="ctr">
                        <a:defRPr sz="1000">
                          <a:solidFill>
                            <a:srgbClr val="FFFFFF"/>
                          </a:solidFill>
                        </a:defRPr>
                      </a:pPr>
                      <a:r>
                        <a:t>70% (30k rows)</a:t>
                      </a:r>
                    </a:p>
                  </a:txBody>
                  <a:tcPr anchor="ctr">
                    <a:solidFill>
                      <a:srgbClr val="29364C"/>
                    </a:solidFill>
                  </a:tcPr>
                </a:tc>
                <a:tc>
                  <a:txBody>
                    <a:bodyPr/>
                    <a:lstStyle/>
                    <a:p>
                      <a:pPr algn="ctr">
                        <a:defRPr sz="1000">
                          <a:solidFill>
                            <a:srgbClr val="FFFFFF"/>
                          </a:solidFill>
                        </a:defRPr>
                      </a:pPr>
                      <a:r>
                        <a:t>30% (13k rows)</a:t>
                      </a:r>
                    </a:p>
                  </a:txBody>
                  <a:tcPr anchor="ctr">
                    <a:solidFill>
                      <a:srgbClr val="29364C"/>
                    </a:solidFill>
                  </a:tcPr>
                </a:tc>
                <a:tc>
                  <a:txBody>
                    <a:bodyPr/>
                    <a:lstStyle/>
                    <a:p>
                      <a:pPr algn="ctr">
                        <a:defRPr sz="1000">
                          <a:solidFill>
                            <a:srgbClr val="FFFFFF"/>
                          </a:solidFill>
                        </a:defRPr>
                      </a:pPr>
                      <a:r>
                        <a:t>Balanced Parquet</a:t>
                      </a:r>
                    </a:p>
                  </a:txBody>
                  <a:tcPr anchor="ctr">
                    <a:solidFill>
                      <a:srgbClr val="29364C"/>
                    </a:solidFill>
                  </a:tcPr>
                </a:tc>
              </a:tr>
              <a:tr h="396240">
                <a:tc>
                  <a:txBody>
                    <a:bodyPr/>
                    <a:lstStyle/>
                    <a:p>
                      <a:pPr algn="l">
                        <a:defRPr sz="1000" b="1">
                          <a:solidFill>
                            <a:srgbClr val="FFFFFF"/>
                          </a:solidFill>
                        </a:defRPr>
                      </a:pPr>
                      <a:r>
                        <a:t>NetBIOS (DrDoS_NetBIOS)</a:t>
                      </a:r>
                    </a:p>
                  </a:txBody>
                  <a:tcPr anchor="ctr">
                    <a:solidFill>
                      <a:srgbClr val="1E293B"/>
                    </a:solidFill>
                  </a:tcPr>
                </a:tc>
                <a:tc>
                  <a:txBody>
                    <a:bodyPr/>
                    <a:lstStyle/>
                    <a:p>
                      <a:pPr algn="ctr">
                        <a:defRPr sz="1000">
                          <a:solidFill>
                            <a:srgbClr val="FFFFFF"/>
                          </a:solidFill>
                        </a:defRPr>
                      </a:pPr>
                      <a:r>
                        <a:t>70% (18k rows)</a:t>
                      </a:r>
                    </a:p>
                  </a:txBody>
                  <a:tcPr anchor="ctr">
                    <a:solidFill>
                      <a:srgbClr val="1E293B"/>
                    </a:solidFill>
                  </a:tcPr>
                </a:tc>
                <a:tc>
                  <a:txBody>
                    <a:bodyPr/>
                    <a:lstStyle/>
                    <a:p>
                      <a:pPr algn="ctr">
                        <a:defRPr sz="1000">
                          <a:solidFill>
                            <a:srgbClr val="FFFFFF"/>
                          </a:solidFill>
                        </a:defRPr>
                      </a:pPr>
                      <a:r>
                        <a:t>30% (7.6k rows)</a:t>
                      </a:r>
                    </a:p>
                  </a:txBody>
                  <a:tcPr anchor="ctr">
                    <a:solidFill>
                      <a:srgbClr val="1E293B"/>
                    </a:solidFill>
                  </a:tcPr>
                </a:tc>
                <a:tc>
                  <a:txBody>
                    <a:bodyPr/>
                    <a:lstStyle/>
                    <a:p>
                      <a:pPr algn="ctr">
                        <a:defRPr sz="1000">
                          <a:solidFill>
                            <a:srgbClr val="FFFFFF"/>
                          </a:solidFill>
                        </a:defRPr>
                      </a:pPr>
                      <a:r>
                        <a:t>Balanced Parquet</a:t>
                      </a:r>
                    </a:p>
                  </a:txBody>
                  <a:tcPr anchor="ctr">
                    <a:solidFill>
                      <a:srgbClr val="1E293B"/>
                    </a:solidFill>
                  </a:tcPr>
                </a:tc>
              </a:tr>
              <a:tr h="396240">
                <a:tc>
                  <a:txBody>
                    <a:bodyPr/>
                    <a:lstStyle/>
                    <a:p>
                      <a:pPr algn="l">
                        <a:defRPr sz="1000" b="1">
                          <a:solidFill>
                            <a:srgbClr val="FFFFFF"/>
                          </a:solidFill>
                        </a:defRPr>
                      </a:pPr>
                      <a:r>
                        <a:t>SNMP (DrDoS_SNMP)</a:t>
                      </a:r>
                    </a:p>
                  </a:txBody>
                  <a:tcPr anchor="ctr">
                    <a:solidFill>
                      <a:srgbClr val="29364C"/>
                    </a:solidFill>
                  </a:tcPr>
                </a:tc>
                <a:tc>
                  <a:txBody>
                    <a:bodyPr/>
                    <a:lstStyle/>
                    <a:p>
                      <a:pPr algn="ctr">
                        <a:defRPr sz="1000">
                          <a:solidFill>
                            <a:srgbClr val="FFFFFF"/>
                          </a:solidFill>
                        </a:defRPr>
                      </a:pPr>
                      <a:r>
                        <a:t>70% (12k rows)</a:t>
                      </a:r>
                    </a:p>
                  </a:txBody>
                  <a:tcPr anchor="ctr">
                    <a:solidFill>
                      <a:srgbClr val="29364C"/>
                    </a:solidFill>
                  </a:tcPr>
                </a:tc>
                <a:tc>
                  <a:txBody>
                    <a:bodyPr/>
                    <a:lstStyle/>
                    <a:p>
                      <a:pPr algn="ctr">
                        <a:defRPr sz="1000">
                          <a:solidFill>
                            <a:srgbClr val="FFFFFF"/>
                          </a:solidFill>
                        </a:defRPr>
                      </a:pPr>
                      <a:r>
                        <a:t>30% (5.3k rows)</a:t>
                      </a:r>
                    </a:p>
                  </a:txBody>
                  <a:tcPr anchor="ctr">
                    <a:solidFill>
                      <a:srgbClr val="29364C"/>
                    </a:solidFill>
                  </a:tcPr>
                </a:tc>
                <a:tc>
                  <a:txBody>
                    <a:bodyPr/>
                    <a:lstStyle/>
                    <a:p>
                      <a:pPr algn="ctr">
                        <a:defRPr sz="1000">
                          <a:solidFill>
                            <a:srgbClr val="FFFFFF"/>
                          </a:solidFill>
                        </a:defRPr>
                      </a:pPr>
                      <a:r>
                        <a:t>Balanced Parquet</a:t>
                      </a:r>
                    </a:p>
                  </a:txBody>
                  <a:tcPr anchor="ctr">
                    <a:solidFill>
                      <a:srgbClr val="29364C"/>
                    </a:solidFill>
                  </a:tcPr>
                </a:tc>
              </a:tr>
              <a:tr h="396240">
                <a:tc>
                  <a:txBody>
                    <a:bodyPr/>
                    <a:lstStyle/>
                    <a:p>
                      <a:pPr algn="l">
                        <a:defRPr sz="1000" b="1">
                          <a:solidFill>
                            <a:srgbClr val="FFFFFF"/>
                          </a:solidFill>
                        </a:defRPr>
                      </a:pPr>
                      <a:r>
                        <a:t>SSDP (DrDoS_SSDP)</a:t>
                      </a:r>
                    </a:p>
                  </a:txBody>
                  <a:tcPr anchor="ctr">
                    <a:solidFill>
                      <a:srgbClr val="1E293B"/>
                    </a:solidFill>
                  </a:tcPr>
                </a:tc>
                <a:tc>
                  <a:txBody>
                    <a:bodyPr/>
                    <a:lstStyle/>
                    <a:p>
                      <a:pPr algn="ctr">
                        <a:defRPr sz="1000">
                          <a:solidFill>
                            <a:srgbClr val="FFFFFF"/>
                          </a:solidFill>
                        </a:defRPr>
                      </a:pPr>
                      <a:r>
                        <a:t>70% (12k rows)</a:t>
                      </a:r>
                    </a:p>
                  </a:txBody>
                  <a:tcPr anchor="ctr">
                    <a:solidFill>
                      <a:srgbClr val="1E293B"/>
                    </a:solidFill>
                  </a:tcPr>
                </a:tc>
                <a:tc>
                  <a:txBody>
                    <a:bodyPr/>
                    <a:lstStyle/>
                    <a:p>
                      <a:pPr algn="ctr">
                        <a:defRPr sz="1000">
                          <a:solidFill>
                            <a:srgbClr val="FFFFFF"/>
                          </a:solidFill>
                        </a:defRPr>
                      </a:pPr>
                      <a:r>
                        <a:t>30% (5.3k rows)</a:t>
                      </a:r>
                    </a:p>
                  </a:txBody>
                  <a:tcPr anchor="ctr">
                    <a:solidFill>
                      <a:srgbClr val="1E293B"/>
                    </a:solidFill>
                  </a:tcPr>
                </a:tc>
                <a:tc>
                  <a:txBody>
                    <a:bodyPr/>
                    <a:lstStyle/>
                    <a:p>
                      <a:pPr algn="ctr">
                        <a:defRPr sz="1000">
                          <a:solidFill>
                            <a:srgbClr val="FFFFFF"/>
                          </a:solidFill>
                        </a:defRPr>
                      </a:pPr>
                      <a:r>
                        <a:t>Balanced Parquet</a:t>
                      </a:r>
                    </a:p>
                  </a:txBody>
                  <a:tcPr anchor="ctr">
                    <a:solidFill>
                      <a:srgbClr val="1E293B"/>
                    </a:solidFill>
                  </a:tcPr>
                </a:tc>
              </a:tr>
              <a:tr h="396240">
                <a:tc>
                  <a:txBody>
                    <a:bodyPr/>
                    <a:lstStyle/>
                    <a:p>
                      <a:pPr algn="l">
                        <a:defRPr sz="1000" b="1">
                          <a:solidFill>
                            <a:srgbClr val="FFFFFF"/>
                          </a:solidFill>
                        </a:defRPr>
                      </a:pPr>
                      <a:r>
                        <a:t>UDP (DrDoS_UDP)</a:t>
                      </a:r>
                    </a:p>
                  </a:txBody>
                  <a:tcPr anchor="ctr">
                    <a:solidFill>
                      <a:srgbClr val="29364C"/>
                    </a:solidFill>
                  </a:tcPr>
                </a:tc>
                <a:tc>
                  <a:txBody>
                    <a:bodyPr/>
                    <a:lstStyle/>
                    <a:p>
                      <a:pPr algn="ctr">
                        <a:defRPr sz="1000">
                          <a:solidFill>
                            <a:srgbClr val="FFFFFF"/>
                          </a:solidFill>
                        </a:defRPr>
                      </a:pPr>
                      <a:r>
                        <a:t>70% (25k rows)</a:t>
                      </a:r>
                    </a:p>
                  </a:txBody>
                  <a:tcPr anchor="ctr">
                    <a:solidFill>
                      <a:srgbClr val="29364C"/>
                    </a:solidFill>
                  </a:tcPr>
                </a:tc>
                <a:tc>
                  <a:txBody>
                    <a:bodyPr/>
                    <a:lstStyle/>
                    <a:p>
                      <a:pPr algn="ctr">
                        <a:defRPr sz="1000">
                          <a:solidFill>
                            <a:srgbClr val="FFFFFF"/>
                          </a:solidFill>
                        </a:defRPr>
                      </a:pPr>
                      <a:r>
                        <a:t>30% (11k rows)</a:t>
                      </a:r>
                    </a:p>
                  </a:txBody>
                  <a:tcPr anchor="ctr">
                    <a:solidFill>
                      <a:srgbClr val="29364C"/>
                    </a:solidFill>
                  </a:tcPr>
                </a:tc>
                <a:tc>
                  <a:txBody>
                    <a:bodyPr/>
                    <a:lstStyle/>
                    <a:p>
                      <a:pPr algn="ctr">
                        <a:defRPr sz="1000">
                          <a:solidFill>
                            <a:srgbClr val="FFFFFF"/>
                          </a:solidFill>
                        </a:defRPr>
                      </a:pPr>
                      <a:r>
                        <a:t>Balanced Parquet</a:t>
                      </a:r>
                    </a:p>
                  </a:txBody>
                  <a:tcPr anchor="ctr">
                    <a:solidFill>
                      <a:srgbClr val="29364C"/>
                    </a:solidFill>
                  </a:tcPr>
                </a:tc>
              </a:tr>
              <a:tr h="396240">
                <a:tc>
                  <a:txBody>
                    <a:bodyPr/>
                    <a:lstStyle/>
                    <a:p>
                      <a:pPr algn="l">
                        <a:defRPr sz="1000" b="1">
                          <a:solidFill>
                            <a:srgbClr val="FFFFFF"/>
                          </a:solidFill>
                        </a:defRPr>
                      </a:pPr>
                      <a:r>
                        <a:t>SYN (Syn)</a:t>
                      </a:r>
                    </a:p>
                  </a:txBody>
                  <a:tcPr anchor="ctr">
                    <a:solidFill>
                      <a:srgbClr val="1E293B"/>
                    </a:solidFill>
                  </a:tcPr>
                </a:tc>
                <a:tc>
                  <a:txBody>
                    <a:bodyPr/>
                    <a:lstStyle/>
                    <a:p>
                      <a:pPr algn="ctr">
                        <a:defRPr sz="1000">
                          <a:solidFill>
                            <a:srgbClr val="FFFFFF"/>
                          </a:solidFill>
                        </a:defRPr>
                      </a:pPr>
                      <a:r>
                        <a:t>70% (20k rows)</a:t>
                      </a:r>
                    </a:p>
                  </a:txBody>
                  <a:tcPr anchor="ctr">
                    <a:solidFill>
                      <a:srgbClr val="1E293B"/>
                    </a:solidFill>
                  </a:tcPr>
                </a:tc>
                <a:tc>
                  <a:txBody>
                    <a:bodyPr/>
                    <a:lstStyle/>
                    <a:p>
                      <a:pPr algn="ctr">
                        <a:defRPr sz="1000">
                          <a:solidFill>
                            <a:srgbClr val="FFFFFF"/>
                          </a:solidFill>
                        </a:defRPr>
                      </a:pPr>
                      <a:r>
                        <a:t>30% (8.7k rows)</a:t>
                      </a:r>
                    </a:p>
                  </a:txBody>
                  <a:tcPr anchor="ctr">
                    <a:solidFill>
                      <a:srgbClr val="1E293B"/>
                    </a:solidFill>
                  </a:tcPr>
                </a:tc>
                <a:tc>
                  <a:txBody>
                    <a:bodyPr/>
                    <a:lstStyle/>
                    <a:p>
                      <a:pPr algn="ctr">
                        <a:defRPr sz="1000">
                          <a:solidFill>
                            <a:srgbClr val="FFFFFF"/>
                          </a:solidFill>
                        </a:defRPr>
                      </a:pPr>
                      <a:r>
                        <a:t>Balanced Parquet</a:t>
                      </a:r>
                    </a:p>
                  </a:txBody>
                  <a:tcPr anchor="ctr">
                    <a:solidFill>
                      <a:srgbClr val="1E293B"/>
                    </a:solidFill>
                  </a:tcPr>
                </a:tc>
              </a:tr>
              <a:tr h="396240">
                <a:tc>
                  <a:txBody>
                    <a:bodyPr/>
                    <a:lstStyle/>
                    <a:p>
                      <a:pPr algn="l">
                        <a:defRPr sz="1000" b="1">
                          <a:solidFill>
                            <a:srgbClr val="FFFFFF"/>
                          </a:solidFill>
                        </a:defRPr>
                      </a:pPr>
                      <a:r>
                        <a:t>TFTP (TFTP)</a:t>
                      </a:r>
                    </a:p>
                  </a:txBody>
                  <a:tcPr anchor="ctr">
                    <a:solidFill>
                      <a:srgbClr val="29364C"/>
                    </a:solidFill>
                  </a:tcPr>
                </a:tc>
                <a:tc>
                  <a:txBody>
                    <a:bodyPr/>
                    <a:lstStyle/>
                    <a:p>
                      <a:pPr algn="ctr">
                        <a:defRPr sz="1000">
                          <a:solidFill>
                            <a:srgbClr val="FFFFFF"/>
                          </a:solidFill>
                        </a:defRPr>
                      </a:pPr>
                      <a:r>
                        <a:t>70% (30k rows)</a:t>
                      </a:r>
                    </a:p>
                  </a:txBody>
                  <a:tcPr anchor="ctr">
                    <a:solidFill>
                      <a:srgbClr val="29364C"/>
                    </a:solidFill>
                  </a:tcPr>
                </a:tc>
                <a:tc>
                  <a:txBody>
                    <a:bodyPr/>
                    <a:lstStyle/>
                    <a:p>
                      <a:pPr algn="ctr">
                        <a:defRPr sz="1000">
                          <a:solidFill>
                            <a:srgbClr val="FFFFFF"/>
                          </a:solidFill>
                        </a:defRPr>
                      </a:pPr>
                      <a:r>
                        <a:t>30% (13k rows)</a:t>
                      </a:r>
                    </a:p>
                  </a:txBody>
                  <a:tcPr anchor="ctr">
                    <a:solidFill>
                      <a:srgbClr val="29364C"/>
                    </a:solidFill>
                  </a:tcPr>
                </a:tc>
                <a:tc>
                  <a:txBody>
                    <a:bodyPr/>
                    <a:lstStyle/>
                    <a:p>
                      <a:pPr algn="ctr">
                        <a:defRPr sz="1000">
                          <a:solidFill>
                            <a:srgbClr val="FFFFFF"/>
                          </a:solidFill>
                        </a:defRPr>
                      </a:pPr>
                      <a:r>
                        <a:t>Balanced Parquet</a:t>
                      </a:r>
                    </a:p>
                  </a:txBody>
                  <a:tcPr anchor="ctr">
                    <a:solidFill>
                      <a:srgbClr val="29364C"/>
                    </a:solidFill>
                  </a:tcPr>
                </a:tc>
              </a:tr>
              <a:tr h="396240">
                <a:tc>
                  <a:txBody>
                    <a:bodyPr/>
                    <a:lstStyle/>
                    <a:p>
                      <a:pPr algn="l">
                        <a:defRPr sz="1000" b="1">
                          <a:solidFill>
                            <a:srgbClr val="FFFFFF"/>
                          </a:solidFill>
                        </a:defRPr>
                      </a:pPr>
                      <a:r>
                        <a:t>UDPLag (UDPLag)</a:t>
                      </a:r>
                    </a:p>
                  </a:txBody>
                  <a:tcPr anchor="ctr">
                    <a:solidFill>
                      <a:srgbClr val="1E293B"/>
                    </a:solidFill>
                  </a:tcPr>
                </a:tc>
                <a:tc>
                  <a:txBody>
                    <a:bodyPr/>
                    <a:lstStyle/>
                    <a:p>
                      <a:pPr algn="ctr">
                        <a:defRPr sz="1000">
                          <a:solidFill>
                            <a:srgbClr val="FFFFFF"/>
                          </a:solidFill>
                        </a:defRPr>
                      </a:pPr>
                      <a:r>
                        <a:t>70% (30k rows)</a:t>
                      </a:r>
                    </a:p>
                  </a:txBody>
                  <a:tcPr anchor="ctr">
                    <a:solidFill>
                      <a:srgbClr val="1E293B"/>
                    </a:solidFill>
                  </a:tcPr>
                </a:tc>
                <a:tc>
                  <a:txBody>
                    <a:bodyPr/>
                    <a:lstStyle/>
                    <a:p>
                      <a:pPr algn="ctr">
                        <a:defRPr sz="1000">
                          <a:solidFill>
                            <a:srgbClr val="FFFFFF"/>
                          </a:solidFill>
                        </a:defRPr>
                      </a:pPr>
                      <a:r>
                        <a:t>30% (13k rows)</a:t>
                      </a:r>
                    </a:p>
                  </a:txBody>
                  <a:tcPr anchor="ctr">
                    <a:solidFill>
                      <a:srgbClr val="1E293B"/>
                    </a:solidFill>
                  </a:tcPr>
                </a:tc>
                <a:tc>
                  <a:txBody>
                    <a:bodyPr/>
                    <a:lstStyle/>
                    <a:p>
                      <a:pPr algn="ctr">
                        <a:defRPr sz="1000">
                          <a:solidFill>
                            <a:srgbClr val="FFFFFF"/>
                          </a:solidFill>
                        </a:defRPr>
                      </a:pPr>
                      <a:r>
                        <a:t>Balanced Parquet</a:t>
                      </a:r>
                    </a:p>
                  </a:txBody>
                  <a:tcPr anchor="ctr">
                    <a:solidFill>
                      <a:srgbClr val="1E293B"/>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228600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9144000" cy="274320"/>
          </a:xfrm>
          <a:prstGeom prst="rect">
            <a:avLst/>
          </a:prstGeom>
          <a:noFill/>
        </p:spPr>
        <p:txBody>
          <a:bodyPr wrap="square">
            <a:spAutoFit/>
          </a:bodyPr>
          <a:lstStyle/>
          <a:p>
            <a:pPr>
              <a:defRPr sz="1000" b="1">
                <a:solidFill>
                  <a:srgbClr val="0EA5E9"/>
                </a:solidFill>
              </a:defRPr>
            </a:pPr>
            <a:r>
              <a:t>PHASE 1: FEATURE ENGINEERING</a:t>
            </a:r>
          </a:p>
        </p:txBody>
      </p:sp>
      <p:sp>
        <p:nvSpPr>
          <p:cNvPr id="5" name="TextBox 4"/>
          <p:cNvSpPr txBox="1"/>
          <p:nvPr/>
        </p:nvSpPr>
        <p:spPr>
          <a:xfrm>
            <a:off x="731520" y="685800"/>
            <a:ext cx="10698480" cy="640080"/>
          </a:xfrm>
          <a:prstGeom prst="rect">
            <a:avLst/>
          </a:prstGeom>
          <a:noFill/>
        </p:spPr>
        <p:txBody>
          <a:bodyPr wrap="square">
            <a:spAutoFit/>
          </a:bodyPr>
          <a:lstStyle/>
          <a:p>
            <a:pPr>
              <a:defRPr sz="2400" b="1">
                <a:solidFill>
                  <a:srgbClr val="FFFFFF"/>
                </a:solidFill>
              </a:defRPr>
            </a:pPr>
            <a:r>
              <a:t>ANOVA F-Test: 81 to 28 Critical Features</a:t>
            </a:r>
          </a:p>
        </p:txBody>
      </p:sp>
      <p:sp>
        <p:nvSpPr>
          <p:cNvPr id="6" name="Rounded Rectangle 5"/>
          <p:cNvSpPr/>
          <p:nvPr/>
        </p:nvSpPr>
        <p:spPr>
          <a:xfrm>
            <a:off x="731520" y="1463040"/>
            <a:ext cx="512064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45920"/>
            <a:ext cx="4572000" cy="457200"/>
          </a:xfrm>
          <a:prstGeom prst="rect">
            <a:avLst/>
          </a:prstGeom>
          <a:noFill/>
        </p:spPr>
        <p:txBody>
          <a:bodyPr wrap="none">
            <a:spAutoFit/>
          </a:bodyPr>
          <a:lstStyle/>
          <a:p>
            <a:pPr>
              <a:defRPr sz="1800" b="1">
                <a:solidFill>
                  <a:srgbClr val="0EA5E9"/>
                </a:solidFill>
              </a:defRPr>
            </a:pPr>
            <a:r>
              <a:t>Why ANOVA F-Test (SelectKBest)?</a:t>
            </a:r>
          </a:p>
        </p:txBody>
      </p:sp>
      <p:sp>
        <p:nvSpPr>
          <p:cNvPr id="8" name="TextBox 7"/>
          <p:cNvSpPr txBox="1"/>
          <p:nvPr/>
        </p:nvSpPr>
        <p:spPr>
          <a:xfrm>
            <a:off x="1005840" y="2194560"/>
            <a:ext cx="4572000" cy="3840480"/>
          </a:xfrm>
          <a:prstGeom prst="rect">
            <a:avLst/>
          </a:prstGeom>
          <a:noFill/>
        </p:spPr>
        <p:txBody>
          <a:bodyPr wrap="square" tIns="91440">
            <a:spAutoFit/>
          </a:bodyPr>
          <a:lstStyle/>
          <a:p>
            <a:pPr>
              <a:spcAft>
                <a:spcPts val="1400"/>
              </a:spcAft>
            </a:pPr>
            <a:r>
              <a:rPr b="1" sz="1200">
                <a:solidFill>
                  <a:srgbClr val="0EA5E9"/>
                </a:solidFill>
              </a:rPr>
              <a:t>Mathematical Foundation: </a:t>
            </a:r>
            <a:r>
              <a:rPr sz="1200">
                <a:solidFill>
                  <a:srgbClr val="FFFFFF"/>
                </a:solidFill>
              </a:rPr>
              <a:t>Evaluates variance-between-groups vs. variance-within-groups to isolate statistically significant discriminators.</a:t>
            </a:r>
          </a:p>
          <a:p>
            <a:pPr>
              <a:spcAft>
                <a:spcPts val="1400"/>
              </a:spcAft>
            </a:pPr>
            <a:r>
              <a:rPr b="1" sz="1200">
                <a:solidFill>
                  <a:srgbClr val="0EA5E9"/>
                </a:solidFill>
              </a:rPr>
              <a:t>Eliminating Noise: </a:t>
            </a:r>
            <a:r>
              <a:rPr sz="1200">
                <a:solidFill>
                  <a:srgbClr val="FFFFFF"/>
                </a:solidFill>
              </a:rPr>
              <a:t>Prunes 53 uninformative counters, zero-variance bulk rate placeholders, and noisy metrics.</a:t>
            </a:r>
          </a:p>
          <a:p>
            <a:pPr>
              <a:spcAft>
                <a:spcPts val="1400"/>
              </a:spcAft>
            </a:pPr>
            <a:r>
              <a:rPr b="1" sz="1200">
                <a:solidFill>
                  <a:srgbClr val="0EA5E9"/>
                </a:solidFill>
              </a:rPr>
              <a:t>Reduced SDN Processing Overhead: </a:t>
            </a:r>
            <a:r>
              <a:rPr sz="1200">
                <a:solidFill>
                  <a:srgbClr val="FFFFFF"/>
                </a:solidFill>
              </a:rPr>
              <a:t>Extracting 28 features instead of 81 slashes packet inspection time by 65% in the Ryu controller.</a:t>
            </a:r>
          </a:p>
          <a:p>
            <a:pPr>
              <a:spcAft>
                <a:spcPts val="1400"/>
              </a:spcAft>
            </a:pPr>
            <a:r>
              <a:rPr b="1" sz="1200">
                <a:solidFill>
                  <a:srgbClr val="0EA5E9"/>
                </a:solidFill>
              </a:rPr>
              <a:t>Leakage-Free Execution: </a:t>
            </a:r>
            <a:r>
              <a:rPr sz="1200">
                <a:solidFill>
                  <a:srgbClr val="FFFFFF"/>
                </a:solidFill>
              </a:rPr>
              <a:t>StandardScaler and SelectKBest(k=28) fitted exclusively on 145,207 training samples.</a:t>
            </a:r>
          </a:p>
        </p:txBody>
      </p:sp>
      <p:sp>
        <p:nvSpPr>
          <p:cNvPr id="9" name="Rounded Rectangle 8"/>
          <p:cNvSpPr/>
          <p:nvPr/>
        </p:nvSpPr>
        <p:spPr>
          <a:xfrm>
            <a:off x="6217920" y="1463040"/>
            <a:ext cx="521208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645920"/>
            <a:ext cx="4572000" cy="457200"/>
          </a:xfrm>
          <a:prstGeom prst="rect">
            <a:avLst/>
          </a:prstGeom>
          <a:noFill/>
        </p:spPr>
        <p:txBody>
          <a:bodyPr wrap="none">
            <a:spAutoFit/>
          </a:bodyPr>
          <a:lstStyle/>
          <a:p>
            <a:pPr>
              <a:defRPr sz="1700" b="1">
                <a:solidFill>
                  <a:srgbClr val="10B981"/>
                </a:solidFill>
              </a:defRPr>
            </a:pPr>
            <a:r>
              <a:t>Top Selected Network Telemetry (28 Features)</a:t>
            </a:r>
          </a:p>
        </p:txBody>
      </p:sp>
      <p:sp>
        <p:nvSpPr>
          <p:cNvPr id="11" name="TextBox 10"/>
          <p:cNvSpPr txBox="1"/>
          <p:nvPr/>
        </p:nvSpPr>
        <p:spPr>
          <a:xfrm>
            <a:off x="6492240" y="2194560"/>
            <a:ext cx="4754880" cy="3840480"/>
          </a:xfrm>
          <a:prstGeom prst="rect">
            <a:avLst/>
          </a:prstGeom>
          <a:noFill/>
        </p:spPr>
        <p:txBody>
          <a:bodyPr wrap="square" tIns="91440">
            <a:spAutoFit/>
          </a:bodyPr>
          <a:lstStyle/>
          <a:p>
            <a:pPr>
              <a:spcAft>
                <a:spcPts val="800"/>
              </a:spcAft>
            </a:pPr>
            <a:r>
              <a:rPr b="1" sz="1100">
                <a:solidFill>
                  <a:srgbClr val="0EA5E9"/>
                </a:solidFill>
              </a:rPr>
              <a:t>Port &amp; Protocol: </a:t>
            </a:r>
            <a:r>
              <a:rPr sz="1100">
                <a:solidFill>
                  <a:srgbClr val="FFFFFF"/>
                </a:solidFill>
              </a:rPr>
              <a:t>Source Port, Destination Port, Protocol</a:t>
            </a:r>
          </a:p>
          <a:p>
            <a:pPr>
              <a:spcAft>
                <a:spcPts val="800"/>
              </a:spcAft>
            </a:pPr>
            <a:r>
              <a:rPr b="1" sz="1100">
                <a:solidFill>
                  <a:srgbClr val="0EA5E9"/>
                </a:solidFill>
              </a:rPr>
              <a:t>Flow Rates: </a:t>
            </a:r>
            <a:r>
              <a:rPr sz="1100">
                <a:solidFill>
                  <a:srgbClr val="FFFFFF"/>
                </a:solidFill>
              </a:rPr>
              <a:t>Flow Bytes/s, Flow Packets/s, Fwd Packets/s, Bwd IAT Total</a:t>
            </a:r>
          </a:p>
          <a:p>
            <a:pPr>
              <a:spcAft>
                <a:spcPts val="800"/>
              </a:spcAft>
            </a:pPr>
            <a:r>
              <a:rPr b="1" sz="1100">
                <a:solidFill>
                  <a:srgbClr val="0EA5E9"/>
                </a:solidFill>
              </a:rPr>
              <a:t>Packet Length Stats: </a:t>
            </a:r>
            <a:r>
              <a:rPr sz="1100">
                <a:solidFill>
                  <a:srgbClr val="FFFFFF"/>
                </a:solidFill>
              </a:rPr>
              <a:t>Fwd/Bwd Packet Length (Max, Min, Mean, Std), Average Packet Size, Min Packet Length, Packet Length (Mean, Std)</a:t>
            </a:r>
          </a:p>
          <a:p>
            <a:pPr>
              <a:spcAft>
                <a:spcPts val="800"/>
              </a:spcAft>
            </a:pPr>
            <a:r>
              <a:rPr b="1" sz="1100">
                <a:solidFill>
                  <a:srgbClr val="0EA5E9"/>
                </a:solidFill>
              </a:rPr>
              <a:t>TCP Flags &amp; Handshake: </a:t>
            </a:r>
            <a:r>
              <a:rPr sz="1100">
                <a:solidFill>
                  <a:srgbClr val="FFFFFF"/>
                </a:solidFill>
              </a:rPr>
              <a:t>RST Flag Count, URG Flag Count, CWE Flag Count, Fwd PSH Flags</a:t>
            </a:r>
          </a:p>
          <a:p>
            <a:pPr>
              <a:spcAft>
                <a:spcPts val="800"/>
              </a:spcAft>
            </a:pPr>
            <a:r>
              <a:rPr b="1" sz="1100">
                <a:solidFill>
                  <a:srgbClr val="0EA5E9"/>
                </a:solidFill>
              </a:rPr>
              <a:t>TCP Window &amp; Segments: </a:t>
            </a:r>
            <a:r>
              <a:rPr sz="1100">
                <a:solidFill>
                  <a:srgbClr val="FFFFFF"/>
                </a:solidFill>
              </a:rPr>
              <a:t>Init_Win_bytes_forward, Init_Win_bytes_backward, Avg Fwd/Bwd Segment Size</a:t>
            </a:r>
          </a:p>
          <a:p>
            <a:pPr>
              <a:spcAft>
                <a:spcPts val="800"/>
              </a:spcAft>
            </a:pPr>
            <a:r>
              <a:rPr b="1" sz="1100">
                <a:solidFill>
                  <a:srgbClr val="0EA5E9"/>
                </a:solidFill>
              </a:rPr>
              <a:t>Directional Vector: </a:t>
            </a:r>
            <a:r>
              <a:rPr sz="1100">
                <a:solidFill>
                  <a:srgbClr val="FFFFFF"/>
                </a:solidFill>
              </a:rPr>
              <a:t>Inbound, Down/Up Ratio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228600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9144000" cy="274320"/>
          </a:xfrm>
          <a:prstGeom prst="rect">
            <a:avLst/>
          </a:prstGeom>
          <a:noFill/>
        </p:spPr>
        <p:txBody>
          <a:bodyPr wrap="square">
            <a:spAutoFit/>
          </a:bodyPr>
          <a:lstStyle/>
          <a:p>
            <a:pPr>
              <a:defRPr sz="1000" b="1">
                <a:solidFill>
                  <a:srgbClr val="0EA5E9"/>
                </a:solidFill>
              </a:defRPr>
            </a:pPr>
            <a:r>
              <a:t>PHASE 2: MODEL DEVELOPMENT</a:t>
            </a:r>
          </a:p>
        </p:txBody>
      </p:sp>
      <p:sp>
        <p:nvSpPr>
          <p:cNvPr id="5" name="TextBox 4"/>
          <p:cNvSpPr txBox="1"/>
          <p:nvPr/>
        </p:nvSpPr>
        <p:spPr>
          <a:xfrm>
            <a:off x="731520" y="685800"/>
            <a:ext cx="10698480" cy="640080"/>
          </a:xfrm>
          <a:prstGeom prst="rect">
            <a:avLst/>
          </a:prstGeom>
          <a:noFill/>
        </p:spPr>
        <p:txBody>
          <a:bodyPr wrap="square">
            <a:spAutoFit/>
          </a:bodyPr>
          <a:lstStyle/>
          <a:p>
            <a:pPr>
              <a:defRPr sz="2400" b="1">
                <a:solidFill>
                  <a:srgbClr val="FFFFFF"/>
                </a:solidFill>
              </a:defRPr>
            </a:pPr>
            <a:r>
              <a:t>Tabular Model Architectures &amp; Training</a:t>
            </a:r>
          </a:p>
        </p:txBody>
      </p:sp>
      <p:graphicFrame>
        <p:nvGraphicFramePr>
          <p:cNvPr id="6" name="Table 5"/>
          <p:cNvGraphicFramePr>
            <a:graphicFrameLocks noGrp="1"/>
          </p:cNvGraphicFramePr>
          <p:nvPr/>
        </p:nvGraphicFramePr>
        <p:xfrm>
          <a:off x="731520" y="1463040"/>
          <a:ext cx="10698480" cy="2560320"/>
        </p:xfrm>
        <a:graphic>
          <a:graphicData uri="http://schemas.openxmlformats.org/drawingml/2006/table">
            <a:tbl>
              <a:tblPr firstRow="1" bandRow="1">
                <a:tableStyleId>{5C22544A-7EE6-4342-B048-85BDC9FD1C3A}</a:tableStyleId>
              </a:tblPr>
              <a:tblGrid>
                <a:gridCol w="2011680"/>
                <a:gridCol w="2011680"/>
                <a:gridCol w="2926080"/>
                <a:gridCol w="1737360"/>
                <a:gridCol w="2011680"/>
              </a:tblGrid>
              <a:tr h="512064">
                <a:tc>
                  <a:txBody>
                    <a:bodyPr/>
                    <a:lstStyle/>
                    <a:p>
                      <a:pPr algn="ctr">
                        <a:defRPr b="1" sz="1100">
                          <a:solidFill>
                            <a:srgbClr val="0F172A"/>
                          </a:solidFill>
                        </a:defRPr>
                      </a:pPr>
                      <a:r>
                        <a:t>Model Architecture</a:t>
                      </a:r>
                    </a:p>
                  </a:txBody>
                  <a:tcPr anchor="ctr">
                    <a:solidFill>
                      <a:srgbClr val="0EA5E9"/>
                    </a:solidFill>
                  </a:tcPr>
                </a:tc>
                <a:tc>
                  <a:txBody>
                    <a:bodyPr/>
                    <a:lstStyle/>
                    <a:p>
                      <a:pPr algn="ctr">
                        <a:defRPr b="1" sz="1100">
                          <a:solidFill>
                            <a:srgbClr val="0F172A"/>
                          </a:solidFill>
                        </a:defRPr>
                      </a:pPr>
                      <a:r>
                        <a:t>Algorithm Paradigm</a:t>
                      </a:r>
                    </a:p>
                  </a:txBody>
                  <a:tcPr anchor="ctr">
                    <a:solidFill>
                      <a:srgbClr val="0EA5E9"/>
                    </a:solidFill>
                  </a:tcPr>
                </a:tc>
                <a:tc>
                  <a:txBody>
                    <a:bodyPr/>
                    <a:lstStyle/>
                    <a:p>
                      <a:pPr algn="ctr">
                        <a:defRPr b="1" sz="1100">
                          <a:solidFill>
                            <a:srgbClr val="0F172A"/>
                          </a:solidFill>
                        </a:defRPr>
                      </a:pPr>
                      <a:r>
                        <a:t>Hyperparameters</a:t>
                      </a:r>
                    </a:p>
                  </a:txBody>
                  <a:tcPr anchor="ctr">
                    <a:solidFill>
                      <a:srgbClr val="0EA5E9"/>
                    </a:solidFill>
                  </a:tcPr>
                </a:tc>
                <a:tc>
                  <a:txBody>
                    <a:bodyPr/>
                    <a:lstStyle/>
                    <a:p>
                      <a:pPr algn="ctr">
                        <a:defRPr b="1" sz="1100">
                          <a:solidFill>
                            <a:srgbClr val="0F172A"/>
                          </a:solidFill>
                        </a:defRPr>
                      </a:pPr>
                      <a:r>
                        <a:t>Core Utilization</a:t>
                      </a:r>
                    </a:p>
                  </a:txBody>
                  <a:tcPr anchor="ctr">
                    <a:solidFill>
                      <a:srgbClr val="0EA5E9"/>
                    </a:solidFill>
                  </a:tcPr>
                </a:tc>
                <a:tc>
                  <a:txBody>
                    <a:bodyPr/>
                    <a:lstStyle/>
                    <a:p>
                      <a:pPr algn="ctr">
                        <a:defRPr b="1" sz="1100">
                          <a:solidFill>
                            <a:srgbClr val="0F172A"/>
                          </a:solidFill>
                        </a:defRPr>
                      </a:pPr>
                      <a:r>
                        <a:t>Role in SDN Project</a:t>
                      </a:r>
                    </a:p>
                  </a:txBody>
                  <a:tcPr anchor="ctr">
                    <a:solidFill>
                      <a:srgbClr val="0EA5E9"/>
                    </a:solidFill>
                  </a:tcPr>
                </a:tc>
              </a:tr>
              <a:tr h="512064">
                <a:tc>
                  <a:txBody>
                    <a:bodyPr/>
                    <a:lstStyle/>
                    <a:p>
                      <a:pPr algn="l">
                        <a:defRPr sz="1000" b="1">
                          <a:solidFill>
                            <a:srgbClr val="FFFFFF"/>
                          </a:solidFill>
                        </a:defRPr>
                      </a:pPr>
                      <a:r>
                        <a:t>Logistic Regression</a:t>
                      </a:r>
                    </a:p>
                  </a:txBody>
                  <a:tcPr anchor="ctr">
                    <a:solidFill>
                      <a:srgbClr val="1E293B"/>
                    </a:solidFill>
                  </a:tcPr>
                </a:tc>
                <a:tc>
                  <a:txBody>
                    <a:bodyPr/>
                    <a:lstStyle/>
                    <a:p>
                      <a:pPr algn="ctr">
                        <a:defRPr sz="1000">
                          <a:solidFill>
                            <a:srgbClr val="FFFFFF"/>
                          </a:solidFill>
                        </a:defRPr>
                      </a:pPr>
                      <a:r>
                        <a:t>Linear Classifier</a:t>
                      </a:r>
                    </a:p>
                  </a:txBody>
                  <a:tcPr anchor="ctr">
                    <a:solidFill>
                      <a:srgbClr val="1E293B"/>
                    </a:solidFill>
                  </a:tcPr>
                </a:tc>
                <a:tc>
                  <a:txBody>
                    <a:bodyPr/>
                    <a:lstStyle/>
                    <a:p>
                      <a:pPr algn="ctr">
                        <a:defRPr sz="1000">
                          <a:solidFill>
                            <a:srgbClr val="FFFFFF"/>
                          </a:solidFill>
                        </a:defRPr>
                      </a:pPr>
                      <a:r>
                        <a:t>solver='lbfgs', max_iter=1000</a:t>
                      </a:r>
                    </a:p>
                  </a:txBody>
                  <a:tcPr anchor="ctr">
                    <a:solidFill>
                      <a:srgbClr val="1E293B"/>
                    </a:solidFill>
                  </a:tcPr>
                </a:tc>
                <a:tc>
                  <a:txBody>
                    <a:bodyPr/>
                    <a:lstStyle/>
                    <a:p>
                      <a:pPr algn="ctr">
                        <a:defRPr sz="1000">
                          <a:solidFill>
                            <a:srgbClr val="FFFFFF"/>
                          </a:solidFill>
                        </a:defRPr>
                      </a:pPr>
                      <a:r>
                        <a:t>Multi-Threaded</a:t>
                      </a:r>
                    </a:p>
                  </a:txBody>
                  <a:tcPr anchor="ctr">
                    <a:solidFill>
                      <a:srgbClr val="1E293B"/>
                    </a:solidFill>
                  </a:tcPr>
                </a:tc>
                <a:tc>
                  <a:txBody>
                    <a:bodyPr/>
                    <a:lstStyle/>
                    <a:p>
                      <a:pPr algn="ctr">
                        <a:defRPr sz="1000">
                          <a:solidFill>
                            <a:srgbClr val="FFFFFF"/>
                          </a:solidFill>
                        </a:defRPr>
                      </a:pPr>
                      <a:r>
                        <a:t>Lightweight, ultra-fast baseline</a:t>
                      </a:r>
                    </a:p>
                  </a:txBody>
                  <a:tcPr anchor="ctr">
                    <a:solidFill>
                      <a:srgbClr val="1E293B"/>
                    </a:solidFill>
                  </a:tcPr>
                </a:tc>
              </a:tr>
              <a:tr h="512064">
                <a:tc>
                  <a:txBody>
                    <a:bodyPr/>
                    <a:lstStyle/>
                    <a:p>
                      <a:pPr algn="l">
                        <a:defRPr sz="1000" b="1">
                          <a:solidFill>
                            <a:srgbClr val="FFFFFF"/>
                          </a:solidFill>
                        </a:defRPr>
                      </a:pPr>
                      <a:r>
                        <a:t>Decision Tree</a:t>
                      </a:r>
                    </a:p>
                  </a:txBody>
                  <a:tcPr anchor="ctr">
                    <a:solidFill>
                      <a:srgbClr val="29364C"/>
                    </a:solidFill>
                  </a:tcPr>
                </a:tc>
                <a:tc>
                  <a:txBody>
                    <a:bodyPr/>
                    <a:lstStyle/>
                    <a:p>
                      <a:pPr algn="ctr">
                        <a:defRPr sz="1000">
                          <a:solidFill>
                            <a:srgbClr val="FFFFFF"/>
                          </a:solidFill>
                        </a:defRPr>
                      </a:pPr>
                      <a:r>
                        <a:t>Cart / Greedy Splitting</a:t>
                      </a:r>
                    </a:p>
                  </a:txBody>
                  <a:tcPr anchor="ctr">
                    <a:solidFill>
                      <a:srgbClr val="29364C"/>
                    </a:solidFill>
                  </a:tcPr>
                </a:tc>
                <a:tc>
                  <a:txBody>
                    <a:bodyPr/>
                    <a:lstStyle/>
                    <a:p>
                      <a:pPr algn="ctr">
                        <a:defRPr sz="1000">
                          <a:solidFill>
                            <a:srgbClr val="FFFFFF"/>
                          </a:solidFill>
                        </a:defRPr>
                      </a:pPr>
                      <a:r>
                        <a:t>max_depth=8, min_samples_split=20</a:t>
                      </a:r>
                    </a:p>
                  </a:txBody>
                  <a:tcPr anchor="ctr">
                    <a:solidFill>
                      <a:srgbClr val="29364C"/>
                    </a:solidFill>
                  </a:tcPr>
                </a:tc>
                <a:tc>
                  <a:txBody>
                    <a:bodyPr/>
                    <a:lstStyle/>
                    <a:p>
                      <a:pPr algn="ctr">
                        <a:defRPr sz="1000">
                          <a:solidFill>
                            <a:srgbClr val="FFFFFF"/>
                          </a:solidFill>
                        </a:defRPr>
                      </a:pPr>
                      <a:r>
                        <a:t>Single Core</a:t>
                      </a:r>
                    </a:p>
                  </a:txBody>
                  <a:tcPr anchor="ctr">
                    <a:solidFill>
                      <a:srgbClr val="29364C"/>
                    </a:solidFill>
                  </a:tcPr>
                </a:tc>
                <a:tc>
                  <a:txBody>
                    <a:bodyPr/>
                    <a:lstStyle/>
                    <a:p>
                      <a:pPr algn="ctr">
                        <a:defRPr sz="1000">
                          <a:solidFill>
                            <a:srgbClr val="FFFFFF"/>
                          </a:solidFill>
                        </a:defRPr>
                      </a:pPr>
                      <a:r>
                        <a:t>Interpretable rule extraction &amp; lowest latency</a:t>
                      </a:r>
                    </a:p>
                  </a:txBody>
                  <a:tcPr anchor="ctr">
                    <a:solidFill>
                      <a:srgbClr val="29364C"/>
                    </a:solidFill>
                  </a:tcPr>
                </a:tc>
              </a:tr>
              <a:tr h="512064">
                <a:tc>
                  <a:txBody>
                    <a:bodyPr/>
                    <a:lstStyle/>
                    <a:p>
                      <a:pPr algn="l">
                        <a:defRPr sz="1000" b="1">
                          <a:solidFill>
                            <a:srgbClr val="FFFFFF"/>
                          </a:solidFill>
                        </a:defRPr>
                      </a:pPr>
                      <a:r>
                        <a:t>Random Forest</a:t>
                      </a:r>
                    </a:p>
                  </a:txBody>
                  <a:tcPr anchor="ctr">
                    <a:solidFill>
                      <a:srgbClr val="1E293B"/>
                    </a:solidFill>
                  </a:tcPr>
                </a:tc>
                <a:tc>
                  <a:txBody>
                    <a:bodyPr/>
                    <a:lstStyle/>
                    <a:p>
                      <a:pPr algn="ctr">
                        <a:defRPr sz="1000">
                          <a:solidFill>
                            <a:srgbClr val="FFFFFF"/>
                          </a:solidFill>
                        </a:defRPr>
                      </a:pPr>
                      <a:r>
                        <a:t>Bagged Ensemble (100 Trees)</a:t>
                      </a:r>
                    </a:p>
                  </a:txBody>
                  <a:tcPr anchor="ctr">
                    <a:solidFill>
                      <a:srgbClr val="1E293B"/>
                    </a:solidFill>
                  </a:tcPr>
                </a:tc>
                <a:tc>
                  <a:txBody>
                    <a:bodyPr/>
                    <a:lstStyle/>
                    <a:p>
                      <a:pPr algn="ctr">
                        <a:defRPr sz="1000">
                          <a:solidFill>
                            <a:srgbClr val="FFFFFF"/>
                          </a:solidFill>
                        </a:defRPr>
                      </a:pPr>
                      <a:r>
                        <a:t>n_estimators=100, max_depth=16</a:t>
                      </a:r>
                    </a:p>
                  </a:txBody>
                  <a:tcPr anchor="ctr">
                    <a:solidFill>
                      <a:srgbClr val="1E293B"/>
                    </a:solidFill>
                  </a:tcPr>
                </a:tc>
                <a:tc>
                  <a:txBody>
                    <a:bodyPr/>
                    <a:lstStyle/>
                    <a:p>
                      <a:pPr algn="ctr">
                        <a:defRPr sz="1000">
                          <a:solidFill>
                            <a:srgbClr val="FFFFFF"/>
                          </a:solidFill>
                        </a:defRPr>
                      </a:pPr>
                      <a:r>
                        <a:t>n_jobs=-1 (All Cores)</a:t>
                      </a:r>
                    </a:p>
                  </a:txBody>
                  <a:tcPr anchor="ctr">
                    <a:solidFill>
                      <a:srgbClr val="1E293B"/>
                    </a:solidFill>
                  </a:tcPr>
                </a:tc>
                <a:tc>
                  <a:txBody>
                    <a:bodyPr/>
                    <a:lstStyle/>
                    <a:p>
                      <a:pPr algn="ctr">
                        <a:defRPr sz="1000">
                          <a:solidFill>
                            <a:srgbClr val="FFFFFF"/>
                          </a:solidFill>
                        </a:defRPr>
                      </a:pPr>
                      <a:r>
                        <a:t>Existing baseline ensemble for high stability</a:t>
                      </a:r>
                    </a:p>
                  </a:txBody>
                  <a:tcPr anchor="ctr">
                    <a:solidFill>
                      <a:srgbClr val="1E293B"/>
                    </a:solidFill>
                  </a:tcPr>
                </a:tc>
              </a:tr>
              <a:tr h="512064">
                <a:tc>
                  <a:txBody>
                    <a:bodyPr/>
                    <a:lstStyle/>
                    <a:p>
                      <a:pPr algn="l">
                        <a:defRPr sz="1000" b="1">
                          <a:solidFill>
                            <a:srgbClr val="FFFFFF"/>
                          </a:solidFill>
                        </a:defRPr>
                      </a:pPr>
                      <a:r>
                        <a:t>XGBoost</a:t>
                      </a:r>
                    </a:p>
                  </a:txBody>
                  <a:tcPr anchor="ctr">
                    <a:solidFill>
                      <a:srgbClr val="29364C"/>
                    </a:solidFill>
                  </a:tcPr>
                </a:tc>
                <a:tc>
                  <a:txBody>
                    <a:bodyPr/>
                    <a:lstStyle/>
                    <a:p>
                      <a:pPr algn="ctr">
                        <a:defRPr sz="1000">
                          <a:solidFill>
                            <a:srgbClr val="FFFFFF"/>
                          </a:solidFill>
                        </a:defRPr>
                      </a:pPr>
                      <a:r>
                        <a:t>Gradient Boosted Trees</a:t>
                      </a:r>
                    </a:p>
                  </a:txBody>
                  <a:tcPr anchor="ctr">
                    <a:solidFill>
                      <a:srgbClr val="29364C"/>
                    </a:solidFill>
                  </a:tcPr>
                </a:tc>
                <a:tc>
                  <a:txBody>
                    <a:bodyPr/>
                    <a:lstStyle/>
                    <a:p>
                      <a:pPr algn="ctr">
                        <a:defRPr sz="1000">
                          <a:solidFill>
                            <a:srgbClr val="FFFFFF"/>
                          </a:solidFill>
                        </a:defRPr>
                      </a:pPr>
                      <a:r>
                        <a:t>tree_method='hist', lr=0.1, n_est=100</a:t>
                      </a:r>
                    </a:p>
                  </a:txBody>
                  <a:tcPr anchor="ctr">
                    <a:solidFill>
                      <a:srgbClr val="29364C"/>
                    </a:solidFill>
                  </a:tcPr>
                </a:tc>
                <a:tc>
                  <a:txBody>
                    <a:bodyPr/>
                    <a:lstStyle/>
                    <a:p>
                      <a:pPr algn="ctr">
                        <a:defRPr sz="1000">
                          <a:solidFill>
                            <a:srgbClr val="FFFFFF"/>
                          </a:solidFill>
                        </a:defRPr>
                      </a:pPr>
                      <a:r>
                        <a:t>n_jobs=-1 (All Cores)</a:t>
                      </a:r>
                    </a:p>
                  </a:txBody>
                  <a:tcPr anchor="ctr">
                    <a:solidFill>
                      <a:srgbClr val="29364C"/>
                    </a:solidFill>
                  </a:tcPr>
                </a:tc>
                <a:tc>
                  <a:txBody>
                    <a:bodyPr/>
                    <a:lstStyle/>
                    <a:p>
                      <a:pPr algn="ctr">
                        <a:defRPr sz="1000">
                          <a:solidFill>
                            <a:srgbClr val="FFFFFF"/>
                          </a:solidFill>
                        </a:defRPr>
                      </a:pPr>
                      <a:r>
                        <a:t>State-of-the-art tabular classification</a:t>
                      </a:r>
                    </a:p>
                  </a:txBody>
                  <a:tcPr anchor="ctr">
                    <a:solidFill>
                      <a:srgbClr val="29364C"/>
                    </a:solidFill>
                  </a:tcPr>
                </a:tc>
              </a:tr>
            </a:tbl>
          </a:graphicData>
        </a:graphic>
      </p:graphicFrame>
      <p:sp>
        <p:nvSpPr>
          <p:cNvPr id="7" name="Rounded Rectangle 6"/>
          <p:cNvSpPr/>
          <p:nvPr/>
        </p:nvSpPr>
        <p:spPr>
          <a:xfrm>
            <a:off x="731520" y="4389120"/>
            <a:ext cx="5120640" cy="1828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480560"/>
            <a:ext cx="4754880" cy="1645920"/>
          </a:xfrm>
          <a:prstGeom prst="rect">
            <a:avLst/>
          </a:prstGeom>
          <a:noFill/>
        </p:spPr>
        <p:txBody>
          <a:bodyPr wrap="square">
            <a:spAutoFit/>
          </a:bodyPr>
          <a:lstStyle/>
          <a:p>
            <a:pPr>
              <a:defRPr b="1" sz="1400">
                <a:solidFill>
                  <a:srgbClr val="0EA5E9"/>
                </a:solidFill>
              </a:defRPr>
            </a:pPr>
            <a:r>
              <a:t>CPU Multi-Threading &amp; Efficiency</a:t>
            </a:r>
          </a:p>
          <a:p>
            <a:pPr>
              <a:spcBef>
                <a:spcPts val="400"/>
              </a:spcBef>
              <a:defRPr sz="1100">
                <a:solidFill>
                  <a:srgbClr val="94A3B8"/>
                </a:solidFill>
              </a:defRPr>
            </a:pPr>
            <a:r>
              <a:t>Leveraged scikit-learn and XGBoost CPU multi-threading (n_jobs=-1) across 145,207 rows. Training all 4 tabular models completed in under 2 minutes locally without exceeding RAM limits.</a:t>
            </a:r>
          </a:p>
        </p:txBody>
      </p:sp>
      <p:sp>
        <p:nvSpPr>
          <p:cNvPr id="9" name="Rounded Rectangle 8"/>
          <p:cNvSpPr/>
          <p:nvPr/>
        </p:nvSpPr>
        <p:spPr>
          <a:xfrm>
            <a:off x="6217920" y="4389120"/>
            <a:ext cx="5212080" cy="18288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4480560"/>
            <a:ext cx="4846320" cy="1645920"/>
          </a:xfrm>
          <a:prstGeom prst="rect">
            <a:avLst/>
          </a:prstGeom>
          <a:noFill/>
        </p:spPr>
        <p:txBody>
          <a:bodyPr wrap="square">
            <a:spAutoFit/>
          </a:bodyPr>
          <a:lstStyle/>
          <a:p>
            <a:pPr>
              <a:defRPr b="1" sz="1400">
                <a:solidFill>
                  <a:srgbClr val="10B981"/>
                </a:solidFill>
              </a:defRPr>
            </a:pPr>
            <a:r>
              <a:t>Why Diverse Model Selection?</a:t>
            </a:r>
          </a:p>
          <a:p>
            <a:pPr>
              <a:spcBef>
                <a:spcPts val="400"/>
              </a:spcBef>
              <a:defRPr sz="1100">
                <a:solidFill>
                  <a:srgbClr val="94A3B8"/>
                </a:solidFill>
              </a:defRPr>
            </a:pPr>
            <a:r>
              <a:t>Balances explainability (Decision Tree), linearity (Logistic Regression), ensemble robustness (Random Forest), and gradient-boosted boundary optimization (XGBoost) for SDN deployment evaluation.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228600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9144000" cy="274320"/>
          </a:xfrm>
          <a:prstGeom prst="rect">
            <a:avLst/>
          </a:prstGeom>
          <a:noFill/>
        </p:spPr>
        <p:txBody>
          <a:bodyPr wrap="square">
            <a:spAutoFit/>
          </a:bodyPr>
          <a:lstStyle/>
          <a:p>
            <a:pPr>
              <a:defRPr sz="1000" b="1">
                <a:solidFill>
                  <a:srgbClr val="0EA5E9"/>
                </a:solidFill>
              </a:defRPr>
            </a:pPr>
            <a:r>
              <a:t>PHASE 2: MODEL INTERPRETABILITY</a:t>
            </a:r>
          </a:p>
        </p:txBody>
      </p:sp>
      <p:sp>
        <p:nvSpPr>
          <p:cNvPr id="5" name="TextBox 4"/>
          <p:cNvSpPr txBox="1"/>
          <p:nvPr/>
        </p:nvSpPr>
        <p:spPr>
          <a:xfrm>
            <a:off x="731520" y="685800"/>
            <a:ext cx="10698480" cy="640080"/>
          </a:xfrm>
          <a:prstGeom prst="rect">
            <a:avLst/>
          </a:prstGeom>
          <a:noFill/>
        </p:spPr>
        <p:txBody>
          <a:bodyPr wrap="square">
            <a:spAutoFit/>
          </a:bodyPr>
          <a:lstStyle/>
          <a:p>
            <a:pPr>
              <a:defRPr sz="2400" b="1">
                <a:solidFill>
                  <a:srgbClr val="FFFFFF"/>
                </a:solidFill>
              </a:defRPr>
            </a:pPr>
            <a:r>
              <a:t>Decision Tree Rule Extraction &amp; Logic Diagram</a:t>
            </a:r>
          </a:p>
        </p:txBody>
      </p:sp>
      <p:sp>
        <p:nvSpPr>
          <p:cNvPr id="6" name="Rounded Rectangle 5"/>
          <p:cNvSpPr/>
          <p:nvPr/>
        </p:nvSpPr>
        <p:spPr>
          <a:xfrm>
            <a:off x="731520" y="1463040"/>
            <a:ext cx="438912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645920"/>
            <a:ext cx="4023360" cy="457200"/>
          </a:xfrm>
          <a:prstGeom prst="rect">
            <a:avLst/>
          </a:prstGeom>
          <a:noFill/>
        </p:spPr>
        <p:txBody>
          <a:bodyPr wrap="none">
            <a:spAutoFit/>
          </a:bodyPr>
          <a:lstStyle/>
          <a:p>
            <a:pPr>
              <a:defRPr sz="1600" b="1">
                <a:solidFill>
                  <a:srgbClr val="0EA5E9"/>
                </a:solidFill>
              </a:defRPr>
            </a:pPr>
            <a:r>
              <a:t>Domain Logic Extracted by CART</a:t>
            </a:r>
          </a:p>
        </p:txBody>
      </p:sp>
      <p:sp>
        <p:nvSpPr>
          <p:cNvPr id="8" name="TextBox 7"/>
          <p:cNvSpPr txBox="1"/>
          <p:nvPr/>
        </p:nvSpPr>
        <p:spPr>
          <a:xfrm>
            <a:off x="914400" y="2194560"/>
            <a:ext cx="4023360" cy="3840480"/>
          </a:xfrm>
          <a:prstGeom prst="rect">
            <a:avLst/>
          </a:prstGeom>
          <a:noFill/>
        </p:spPr>
        <p:txBody>
          <a:bodyPr wrap="square" tIns="91440">
            <a:spAutoFit/>
          </a:bodyPr>
          <a:lstStyle/>
          <a:p>
            <a:pPr>
              <a:spcAft>
                <a:spcPts val="1000"/>
              </a:spcAft>
            </a:pPr>
            <a:r>
              <a:rPr b="1" sz="1100">
                <a:solidFill>
                  <a:srgbClr val="0EA5E9"/>
                </a:solidFill>
              </a:rPr>
              <a:t>Root Split: Inbound Flag: </a:t>
            </a:r>
            <a:r>
              <a:rPr sz="1100">
                <a:solidFill>
                  <a:srgbClr val="FFFFFF"/>
                </a:solidFill>
              </a:rPr>
              <a:t>Isolates external reflective DDoS traffic entering victim perimeter vs internal flows.</a:t>
            </a:r>
          </a:p>
          <a:p>
            <a:pPr>
              <a:spcAft>
                <a:spcPts val="1000"/>
              </a:spcAft>
            </a:pPr>
            <a:r>
              <a:rPr b="1" sz="1100">
                <a:solidFill>
                  <a:srgbClr val="0EA5E9"/>
                </a:solidFill>
              </a:rPr>
              <a:t>Destination &amp; Source Port: </a:t>
            </a:r>
            <a:r>
              <a:rPr sz="1100">
                <a:solidFill>
                  <a:srgbClr val="FFFFFF"/>
                </a:solidFill>
              </a:rPr>
              <a:t>Detects service-port reflection (DNS 53, NTP 123, TFTP 69, MSSQL 1433) and ephemeral floods.</a:t>
            </a:r>
          </a:p>
          <a:p>
            <a:pPr>
              <a:spcAft>
                <a:spcPts val="1000"/>
              </a:spcAft>
            </a:pPr>
            <a:r>
              <a:rPr b="1" sz="1100">
                <a:solidFill>
                  <a:srgbClr val="0EA5E9"/>
                </a:solidFill>
              </a:rPr>
              <a:t>Min Packet Length &amp; Flow Bytes/s: </a:t>
            </a:r>
            <a:r>
              <a:rPr sz="1100">
                <a:solidFill>
                  <a:srgbClr val="FFFFFF"/>
                </a:solidFill>
              </a:rPr>
              <a:t>Identifies amplification payload signatures with uniform packet bursts.</a:t>
            </a:r>
          </a:p>
          <a:p>
            <a:pPr>
              <a:spcAft>
                <a:spcPts val="1000"/>
              </a:spcAft>
            </a:pPr>
            <a:r>
              <a:rPr b="1" sz="1100">
                <a:solidFill>
                  <a:srgbClr val="0EA5E9"/>
                </a:solidFill>
              </a:rPr>
              <a:t>Init_Win_bytes_backward: </a:t>
            </a:r>
            <a:r>
              <a:rPr sz="1100">
                <a:solidFill>
                  <a:srgbClr val="FFFFFF"/>
                </a:solidFill>
              </a:rPr>
              <a:t>Detects failed TCP three-way handshakes where victim window allocations drop to zero.</a:t>
            </a:r>
          </a:p>
          <a:p>
            <a:pPr>
              <a:spcAft>
                <a:spcPts val="1000"/>
              </a:spcAft>
            </a:pPr>
            <a:r>
              <a:rPr b="1" sz="1100">
                <a:solidFill>
                  <a:srgbClr val="0EA5E9"/>
                </a:solidFill>
              </a:rPr>
              <a:t>Human-Auditable Security: </a:t>
            </a:r>
            <a:r>
              <a:rPr sz="1100">
                <a:solidFill>
                  <a:srgbClr val="FFFFFF"/>
                </a:solidFill>
              </a:rPr>
              <a:t>Network operators can verify OpenFlow rules directly against network physics.</a:t>
            </a:r>
          </a:p>
        </p:txBody>
      </p:sp>
      <p:sp>
        <p:nvSpPr>
          <p:cNvPr id="9" name="Rounded Rectangle 8"/>
          <p:cNvSpPr/>
          <p:nvPr/>
        </p:nvSpPr>
        <p:spPr>
          <a:xfrm>
            <a:off x="5303520" y="1463040"/>
            <a:ext cx="612648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tree_rules.png"/>
          <p:cNvPicPr>
            <a:picLocks noChangeAspect="1"/>
          </p:cNvPicPr>
          <p:nvPr/>
        </p:nvPicPr>
        <p:blipFill>
          <a:blip r:embed="rId2"/>
          <a:stretch>
            <a:fillRect/>
          </a:stretch>
        </p:blipFill>
        <p:spPr>
          <a:xfrm>
            <a:off x="5486400" y="1645920"/>
            <a:ext cx="5760720" cy="438912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228600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9144000" cy="274320"/>
          </a:xfrm>
          <a:prstGeom prst="rect">
            <a:avLst/>
          </a:prstGeom>
          <a:noFill/>
        </p:spPr>
        <p:txBody>
          <a:bodyPr wrap="square">
            <a:spAutoFit/>
          </a:bodyPr>
          <a:lstStyle/>
          <a:p>
            <a:pPr>
              <a:defRPr sz="1000" b="1">
                <a:solidFill>
                  <a:srgbClr val="0EA5E9"/>
                </a:solidFill>
              </a:defRPr>
            </a:pPr>
            <a:r>
              <a:t>PHASE 3: NEURAL NETWORKS</a:t>
            </a:r>
          </a:p>
        </p:txBody>
      </p:sp>
      <p:sp>
        <p:nvSpPr>
          <p:cNvPr id="5" name="TextBox 4"/>
          <p:cNvSpPr txBox="1"/>
          <p:nvPr/>
        </p:nvSpPr>
        <p:spPr>
          <a:xfrm>
            <a:off x="731520" y="685800"/>
            <a:ext cx="10698480" cy="640080"/>
          </a:xfrm>
          <a:prstGeom prst="rect">
            <a:avLst/>
          </a:prstGeom>
          <a:noFill/>
        </p:spPr>
        <p:txBody>
          <a:bodyPr wrap="square">
            <a:spAutoFit/>
          </a:bodyPr>
          <a:lstStyle/>
          <a:p>
            <a:pPr>
              <a:defRPr sz="2400" b="1">
                <a:solidFill>
                  <a:srgbClr val="FFFFFF"/>
                </a:solidFill>
              </a:defRPr>
            </a:pPr>
            <a:r>
              <a:t>Deep Sequence Modeling: 2-Layer LSTM on RTX 5050</a:t>
            </a:r>
          </a:p>
        </p:txBody>
      </p:sp>
      <p:sp>
        <p:nvSpPr>
          <p:cNvPr id="6" name="Rounded Rectangle 5"/>
          <p:cNvSpPr/>
          <p:nvPr/>
        </p:nvSpPr>
        <p:spPr>
          <a:xfrm>
            <a:off x="731520" y="1463040"/>
            <a:ext cx="512064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45920"/>
            <a:ext cx="4572000" cy="457200"/>
          </a:xfrm>
          <a:prstGeom prst="rect">
            <a:avLst/>
          </a:prstGeom>
          <a:noFill/>
        </p:spPr>
        <p:txBody>
          <a:bodyPr wrap="none">
            <a:spAutoFit/>
          </a:bodyPr>
          <a:lstStyle/>
          <a:p>
            <a:pPr>
              <a:defRPr sz="1700" b="1">
                <a:solidFill>
                  <a:srgbClr val="0EA5E9"/>
                </a:solidFill>
              </a:defRPr>
            </a:pPr>
            <a:r>
              <a:t>Temporal Data Restructuring &amp; Architecture</a:t>
            </a:r>
          </a:p>
        </p:txBody>
      </p:sp>
      <p:sp>
        <p:nvSpPr>
          <p:cNvPr id="8" name="TextBox 7"/>
          <p:cNvSpPr txBox="1"/>
          <p:nvPr/>
        </p:nvSpPr>
        <p:spPr>
          <a:xfrm>
            <a:off x="1005840" y="2194560"/>
            <a:ext cx="4572000" cy="3840480"/>
          </a:xfrm>
          <a:prstGeom prst="rect">
            <a:avLst/>
          </a:prstGeom>
          <a:noFill/>
        </p:spPr>
        <p:txBody>
          <a:bodyPr wrap="square" tIns="91440">
            <a:spAutoFit/>
          </a:bodyPr>
          <a:lstStyle/>
          <a:p>
            <a:pPr>
              <a:spcAft>
                <a:spcPts val="1000"/>
              </a:spcAft>
            </a:pPr>
            <a:r>
              <a:rPr b="1" sz="1100">
                <a:solidFill>
                  <a:srgbClr val="0EA5E9"/>
                </a:solidFill>
              </a:rPr>
              <a:t>2D to 3D Tensor Reshaping: </a:t>
            </a:r>
            <a:r>
              <a:rPr sz="1100">
                <a:solidFill>
                  <a:srgbClr val="FFFFFF"/>
                </a:solidFill>
              </a:rPr>
              <a:t>Transformed 2D flow vectors into 3D sliding-window time series (samples, 10 time_steps, 28 features).</a:t>
            </a:r>
          </a:p>
          <a:p>
            <a:pPr>
              <a:spcAft>
                <a:spcPts val="1000"/>
              </a:spcAft>
            </a:pPr>
            <a:r>
              <a:rPr b="1" sz="1100">
                <a:solidFill>
                  <a:srgbClr val="0EA5E9"/>
                </a:solidFill>
              </a:rPr>
              <a:t>Layer 1 Architecture: </a:t>
            </a:r>
            <a:r>
              <a:rPr sz="1100">
                <a:solidFill>
                  <a:srgbClr val="FFFFFF"/>
                </a:solidFill>
              </a:rPr>
              <a:t>LSTM(64 units, return_sequences=True) + Dropout(0.2) + BatchNormalization().</a:t>
            </a:r>
          </a:p>
          <a:p>
            <a:pPr>
              <a:spcAft>
                <a:spcPts val="1000"/>
              </a:spcAft>
            </a:pPr>
            <a:r>
              <a:rPr b="1" sz="1100">
                <a:solidFill>
                  <a:srgbClr val="0EA5E9"/>
                </a:solidFill>
              </a:rPr>
              <a:t>Layer 2 Architecture: </a:t>
            </a:r>
            <a:r>
              <a:rPr sz="1100">
                <a:solidFill>
                  <a:srgbClr val="FFFFFF"/>
                </a:solidFill>
              </a:rPr>
              <a:t>LSTM(64 units, return_sequences=False) + Dropout(0.2) + BatchNormalization().</a:t>
            </a:r>
          </a:p>
          <a:p>
            <a:pPr>
              <a:spcAft>
                <a:spcPts val="1000"/>
              </a:spcAft>
            </a:pPr>
            <a:r>
              <a:rPr b="1" sz="1100">
                <a:solidFill>
                  <a:srgbClr val="0EA5E9"/>
                </a:solidFill>
              </a:rPr>
              <a:t>Dense Classification Head: </a:t>
            </a:r>
            <a:r>
              <a:rPr sz="1100">
                <a:solidFill>
                  <a:srgbClr val="FFFFFF"/>
                </a:solidFill>
              </a:rPr>
              <a:t>Dense(32, activation='relu') -&gt; Dense(1, activation='sigmoid').</a:t>
            </a:r>
          </a:p>
          <a:p>
            <a:pPr>
              <a:spcAft>
                <a:spcPts val="1000"/>
              </a:spcAft>
            </a:pPr>
            <a:r>
              <a:rPr b="1" sz="1100">
                <a:solidFill>
                  <a:srgbClr val="0EA5E9"/>
                </a:solidFill>
              </a:rPr>
              <a:t>Loss &amp; Optimization: </a:t>
            </a:r>
            <a:r>
              <a:rPr sz="1100">
                <a:solidFill>
                  <a:srgbClr val="FFFFFF"/>
                </a:solidFill>
              </a:rPr>
              <a:t>Trained using Adam optimizer (lr=0.001) with Binary Cross-Entropy loss.</a:t>
            </a:r>
          </a:p>
        </p:txBody>
      </p:sp>
      <p:sp>
        <p:nvSpPr>
          <p:cNvPr id="9" name="Rounded Rectangle 8"/>
          <p:cNvSpPr/>
          <p:nvPr/>
        </p:nvSpPr>
        <p:spPr>
          <a:xfrm>
            <a:off x="6217920" y="1463040"/>
            <a:ext cx="521208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645920"/>
            <a:ext cx="4572000" cy="457200"/>
          </a:xfrm>
          <a:prstGeom prst="rect">
            <a:avLst/>
          </a:prstGeom>
          <a:noFill/>
        </p:spPr>
        <p:txBody>
          <a:bodyPr wrap="none">
            <a:spAutoFit/>
          </a:bodyPr>
          <a:lstStyle/>
          <a:p>
            <a:pPr>
              <a:defRPr sz="1700" b="1">
                <a:solidFill>
                  <a:srgbClr val="10B981"/>
                </a:solidFill>
              </a:defRPr>
            </a:pPr>
            <a:r>
              <a:t>GPU Acceleration &amp; Memory Management</a:t>
            </a:r>
          </a:p>
        </p:txBody>
      </p:sp>
      <p:sp>
        <p:nvSpPr>
          <p:cNvPr id="11" name="TextBox 10"/>
          <p:cNvSpPr txBox="1"/>
          <p:nvPr/>
        </p:nvSpPr>
        <p:spPr>
          <a:xfrm>
            <a:off x="6492240" y="2194560"/>
            <a:ext cx="4572000" cy="3840480"/>
          </a:xfrm>
          <a:prstGeom prst="rect">
            <a:avLst/>
          </a:prstGeom>
          <a:noFill/>
        </p:spPr>
        <p:txBody>
          <a:bodyPr wrap="square" tIns="91440">
            <a:spAutoFit/>
          </a:bodyPr>
          <a:lstStyle/>
          <a:p>
            <a:pPr>
              <a:spcAft>
                <a:spcPts val="1000"/>
              </a:spcAft>
            </a:pPr>
            <a:r>
              <a:rPr b="1" sz="1100">
                <a:solidFill>
                  <a:srgbClr val="0EA5E9"/>
                </a:solidFill>
              </a:rPr>
              <a:t>NVIDIA RTX 5050 VRAM: </a:t>
            </a:r>
            <a:r>
              <a:rPr sz="1100">
                <a:solidFill>
                  <a:srgbClr val="FFFFFF"/>
                </a:solidFill>
              </a:rPr>
              <a:t>Utilized 8 GB GDDR6 GPU memory with Blackwell Tensor Core architecture.</a:t>
            </a:r>
          </a:p>
          <a:p>
            <a:pPr>
              <a:spcAft>
                <a:spcPts val="1000"/>
              </a:spcAft>
            </a:pPr>
            <a:r>
              <a:rPr b="1" sz="1100">
                <a:solidFill>
                  <a:srgbClr val="0EA5E9"/>
                </a:solidFill>
              </a:rPr>
              <a:t>Dynamic Memory Growth: </a:t>
            </a:r>
            <a:r>
              <a:rPr sz="1100">
                <a:solidFill>
                  <a:srgbClr val="FFFFFF"/>
                </a:solidFill>
              </a:rPr>
              <a:t>Enabled tf.config.experimental.set_memory_growth to allocate VRAM on-demand.</a:t>
            </a:r>
          </a:p>
          <a:p>
            <a:pPr>
              <a:spcAft>
                <a:spcPts val="1000"/>
              </a:spcAft>
            </a:pPr>
            <a:r>
              <a:rPr b="1" sz="1100">
                <a:solidFill>
                  <a:srgbClr val="0EA5E9"/>
                </a:solidFill>
              </a:rPr>
              <a:t>Mini-Batching (Batch Size 256): </a:t>
            </a:r>
            <a:r>
              <a:rPr sz="1100">
                <a:solidFill>
                  <a:srgbClr val="FFFFFF"/>
                </a:solidFill>
              </a:rPr>
              <a:t>Prevented CUDA Out-Of-Memory (OOM) errors and sustained high tensor throughput.</a:t>
            </a:r>
          </a:p>
          <a:p>
            <a:pPr>
              <a:spcAft>
                <a:spcPts val="1000"/>
              </a:spcAft>
            </a:pPr>
            <a:r>
              <a:rPr b="1" sz="1100">
                <a:solidFill>
                  <a:srgbClr val="0EA5E9"/>
                </a:solidFill>
              </a:rPr>
              <a:t>Regularization &amp; Callbacks: </a:t>
            </a:r>
            <a:r>
              <a:rPr sz="1100">
                <a:solidFill>
                  <a:srgbClr val="FFFFFF"/>
                </a:solidFill>
              </a:rPr>
              <a:t>EarlyStopping(patience=3) restored best weights; ModelCheckpoint saved best_lstm.keras.</a:t>
            </a:r>
          </a:p>
          <a:p>
            <a:pPr>
              <a:spcAft>
                <a:spcPts val="1000"/>
              </a:spcAft>
            </a:pPr>
            <a:r>
              <a:rPr b="1" sz="1100">
                <a:solidFill>
                  <a:srgbClr val="0EA5E9"/>
                </a:solidFill>
              </a:rPr>
              <a:t>Export Formats: </a:t>
            </a:r>
            <a:r>
              <a:rPr sz="1100">
                <a:solidFill>
                  <a:srgbClr val="FFFFFF"/>
                </a:solidFill>
              </a:rPr>
              <a:t>Exported both modern .keras format and legacy .h5 format for maximum deployment compatibility.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228600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9144000" cy="274320"/>
          </a:xfrm>
          <a:prstGeom prst="rect">
            <a:avLst/>
          </a:prstGeom>
          <a:noFill/>
        </p:spPr>
        <p:txBody>
          <a:bodyPr wrap="square">
            <a:spAutoFit/>
          </a:bodyPr>
          <a:lstStyle/>
          <a:p>
            <a:pPr>
              <a:defRPr sz="1000" b="1">
                <a:solidFill>
                  <a:srgbClr val="0EA5E9"/>
                </a:solidFill>
              </a:defRPr>
            </a:pPr>
            <a:r>
              <a:t>PHASE 4: BENCHMARK RESULTS</a:t>
            </a:r>
          </a:p>
        </p:txBody>
      </p:sp>
      <p:sp>
        <p:nvSpPr>
          <p:cNvPr id="5" name="TextBox 4"/>
          <p:cNvSpPr txBox="1"/>
          <p:nvPr/>
        </p:nvSpPr>
        <p:spPr>
          <a:xfrm>
            <a:off x="731520" y="685800"/>
            <a:ext cx="10698480" cy="640080"/>
          </a:xfrm>
          <a:prstGeom prst="rect">
            <a:avLst/>
          </a:prstGeom>
          <a:noFill/>
        </p:spPr>
        <p:txBody>
          <a:bodyPr wrap="square">
            <a:spAutoFit/>
          </a:bodyPr>
          <a:lstStyle/>
          <a:p>
            <a:pPr>
              <a:defRPr sz="2400" b="1">
                <a:solidFill>
                  <a:srgbClr val="FFFFFF"/>
                </a:solidFill>
              </a:defRPr>
            </a:pPr>
            <a:r>
              <a:t>Quantitative Evaluation Matrix Across All 5 Models</a:t>
            </a:r>
          </a:p>
        </p:txBody>
      </p:sp>
      <p:graphicFrame>
        <p:nvGraphicFramePr>
          <p:cNvPr id="6" name="Table 5"/>
          <p:cNvGraphicFramePr>
            <a:graphicFrameLocks noGrp="1"/>
          </p:cNvGraphicFramePr>
          <p:nvPr/>
        </p:nvGraphicFramePr>
        <p:xfrm>
          <a:off x="731520" y="1463040"/>
          <a:ext cx="10698480" cy="2926080"/>
        </p:xfrm>
        <a:graphic>
          <a:graphicData uri="http://schemas.openxmlformats.org/drawingml/2006/table">
            <a:tbl>
              <a:tblPr firstRow="1" bandRow="1">
                <a:tableStyleId>{5C22544A-7EE6-4342-B048-85BDC9FD1C3A}</a:tableStyleId>
              </a:tblPr>
              <a:tblGrid>
                <a:gridCol w="1920240"/>
                <a:gridCol w="1005840"/>
                <a:gridCol w="1005840"/>
                <a:gridCol w="1005840"/>
                <a:gridCol w="1005840"/>
                <a:gridCol w="1005840"/>
                <a:gridCol w="1005840"/>
                <a:gridCol w="1188720"/>
                <a:gridCol w="1554480"/>
              </a:tblGrid>
              <a:tr h="487680">
                <a:tc>
                  <a:txBody>
                    <a:bodyPr/>
                    <a:lstStyle/>
                    <a:p>
                      <a:pPr algn="ctr">
                        <a:defRPr b="1" sz="1100">
                          <a:solidFill>
                            <a:srgbClr val="0F172A"/>
                          </a:solidFill>
                        </a:defRPr>
                      </a:pPr>
                      <a:r>
                        <a:t>Model</a:t>
                      </a:r>
                    </a:p>
                  </a:txBody>
                  <a:tcPr anchor="ctr">
                    <a:solidFill>
                      <a:srgbClr val="0EA5E9"/>
                    </a:solidFill>
                  </a:tcPr>
                </a:tc>
                <a:tc>
                  <a:txBody>
                    <a:bodyPr/>
                    <a:lstStyle/>
                    <a:p>
                      <a:pPr algn="ctr">
                        <a:defRPr b="1" sz="1100">
                          <a:solidFill>
                            <a:srgbClr val="0F172A"/>
                          </a:solidFill>
                        </a:defRPr>
                      </a:pPr>
                      <a:r>
                        <a:t>Accuracy</a:t>
                      </a:r>
                    </a:p>
                  </a:txBody>
                  <a:tcPr anchor="ctr">
                    <a:solidFill>
                      <a:srgbClr val="0EA5E9"/>
                    </a:solidFill>
                  </a:tcPr>
                </a:tc>
                <a:tc>
                  <a:txBody>
                    <a:bodyPr/>
                    <a:lstStyle/>
                    <a:p>
                      <a:pPr algn="ctr">
                        <a:defRPr b="1" sz="1100">
                          <a:solidFill>
                            <a:srgbClr val="0F172A"/>
                          </a:solidFill>
                        </a:defRPr>
                      </a:pPr>
                      <a:r>
                        <a:t>Precision</a:t>
                      </a:r>
                    </a:p>
                  </a:txBody>
                  <a:tcPr anchor="ctr">
                    <a:solidFill>
                      <a:srgbClr val="0EA5E9"/>
                    </a:solidFill>
                  </a:tcPr>
                </a:tc>
                <a:tc>
                  <a:txBody>
                    <a:bodyPr/>
                    <a:lstStyle/>
                    <a:p>
                      <a:pPr algn="ctr">
                        <a:defRPr b="1" sz="1100">
                          <a:solidFill>
                            <a:srgbClr val="0F172A"/>
                          </a:solidFill>
                        </a:defRPr>
                      </a:pPr>
                      <a:r>
                        <a:t>Recall</a:t>
                      </a:r>
                    </a:p>
                  </a:txBody>
                  <a:tcPr anchor="ctr">
                    <a:solidFill>
                      <a:srgbClr val="0EA5E9"/>
                    </a:solidFill>
                  </a:tcPr>
                </a:tc>
                <a:tc>
                  <a:txBody>
                    <a:bodyPr/>
                    <a:lstStyle/>
                    <a:p>
                      <a:pPr algn="ctr">
                        <a:defRPr b="1" sz="1100">
                          <a:solidFill>
                            <a:srgbClr val="0F172A"/>
                          </a:solidFill>
                        </a:defRPr>
                      </a:pPr>
                      <a:r>
                        <a:t>Macro F1</a:t>
                      </a:r>
                    </a:p>
                  </a:txBody>
                  <a:tcPr anchor="ctr">
                    <a:solidFill>
                      <a:srgbClr val="0EA5E9"/>
                    </a:solidFill>
                  </a:tcPr>
                </a:tc>
                <a:tc>
                  <a:txBody>
                    <a:bodyPr/>
                    <a:lstStyle/>
                    <a:p>
                      <a:pPr algn="ctr">
                        <a:defRPr b="1" sz="1100">
                          <a:solidFill>
                            <a:srgbClr val="0F172A"/>
                          </a:solidFill>
                        </a:defRPr>
                      </a:pPr>
                      <a:r>
                        <a:t>Weighted F1</a:t>
                      </a:r>
                    </a:p>
                  </a:txBody>
                  <a:tcPr anchor="ctr">
                    <a:solidFill>
                      <a:srgbClr val="0EA5E9"/>
                    </a:solidFill>
                  </a:tcPr>
                </a:tc>
                <a:tc>
                  <a:txBody>
                    <a:bodyPr/>
                    <a:lstStyle/>
                    <a:p>
                      <a:pPr algn="ctr">
                        <a:defRPr b="1" sz="1100">
                          <a:solidFill>
                            <a:srgbClr val="0F172A"/>
                          </a:solidFill>
                        </a:defRPr>
                      </a:pPr>
                      <a:r>
                        <a:t>FPR (%)</a:t>
                      </a:r>
                    </a:p>
                  </a:txBody>
                  <a:tcPr anchor="ctr">
                    <a:solidFill>
                      <a:srgbClr val="0EA5E9"/>
                    </a:solidFill>
                  </a:tcPr>
                </a:tc>
                <a:tc>
                  <a:txBody>
                    <a:bodyPr/>
                    <a:lstStyle/>
                    <a:p>
                      <a:pPr algn="ctr">
                        <a:defRPr b="1" sz="1100">
                          <a:solidFill>
                            <a:srgbClr val="0F172A"/>
                          </a:solidFill>
                        </a:defRPr>
                      </a:pPr>
                      <a:r>
                        <a:t>Latency (ms)</a:t>
                      </a:r>
                    </a:p>
                  </a:txBody>
                  <a:tcPr anchor="ctr">
                    <a:solidFill>
                      <a:srgbClr val="0EA5E9"/>
                    </a:solidFill>
                  </a:tcPr>
                </a:tc>
                <a:tc>
                  <a:txBody>
                    <a:bodyPr/>
                    <a:lstStyle/>
                    <a:p>
                      <a:pPr algn="ctr">
                        <a:defRPr b="1" sz="1100">
                          <a:solidFill>
                            <a:srgbClr val="0F172A"/>
                          </a:solidFill>
                        </a:defRPr>
                      </a:pPr>
                      <a:r>
                        <a:t>SDN Status</a:t>
                      </a:r>
                    </a:p>
                  </a:txBody>
                  <a:tcPr anchor="ctr">
                    <a:solidFill>
                      <a:srgbClr val="0EA5E9"/>
                    </a:solidFill>
                  </a:tcPr>
                </a:tc>
              </a:tr>
              <a:tr h="487680">
                <a:tc>
                  <a:txBody>
                    <a:bodyPr/>
                    <a:lstStyle/>
                    <a:p>
                      <a:pPr algn="l">
                        <a:defRPr sz="1000" b="1">
                          <a:solidFill>
                            <a:srgbClr val="FFFFFF"/>
                          </a:solidFill>
                        </a:defRPr>
                      </a:pPr>
                      <a:r>
                        <a:t>Decision Tree (Best)</a:t>
                      </a:r>
                    </a:p>
                  </a:txBody>
                  <a:tcPr anchor="ctr">
                    <a:solidFill>
                      <a:srgbClr val="1E293B"/>
                    </a:solidFill>
                  </a:tcPr>
                </a:tc>
                <a:tc>
                  <a:txBody>
                    <a:bodyPr/>
                    <a:lstStyle/>
                    <a:p>
                      <a:pPr algn="ctr">
                        <a:defRPr sz="1000">
                          <a:solidFill>
                            <a:srgbClr val="FFFFFF"/>
                          </a:solidFill>
                        </a:defRPr>
                      </a:pPr>
                      <a:r>
                        <a:t>99.99%</a:t>
                      </a:r>
                    </a:p>
                  </a:txBody>
                  <a:tcPr anchor="ctr">
                    <a:solidFill>
                      <a:srgbClr val="1E293B"/>
                    </a:solidFill>
                  </a:tcPr>
                </a:tc>
                <a:tc>
                  <a:txBody>
                    <a:bodyPr/>
                    <a:lstStyle/>
                    <a:p>
                      <a:pPr algn="ctr">
                        <a:defRPr sz="1000">
                          <a:solidFill>
                            <a:srgbClr val="FFFFFF"/>
                          </a:solidFill>
                        </a:defRPr>
                      </a:pPr>
                      <a:r>
                        <a:t>99.99%</a:t>
                      </a:r>
                    </a:p>
                  </a:txBody>
                  <a:tcPr anchor="ctr">
                    <a:solidFill>
                      <a:srgbClr val="1E293B"/>
                    </a:solidFill>
                  </a:tcPr>
                </a:tc>
                <a:tc>
                  <a:txBody>
                    <a:bodyPr/>
                    <a:lstStyle/>
                    <a:p>
                      <a:pPr algn="ctr">
                        <a:defRPr sz="1000">
                          <a:solidFill>
                            <a:srgbClr val="FFFFFF"/>
                          </a:solidFill>
                        </a:defRPr>
                      </a:pPr>
                      <a:r>
                        <a:t>99.99%</a:t>
                      </a:r>
                    </a:p>
                  </a:txBody>
                  <a:tcPr anchor="ctr">
                    <a:solidFill>
                      <a:srgbClr val="1E293B"/>
                    </a:solidFill>
                  </a:tcPr>
                </a:tc>
                <a:tc>
                  <a:txBody>
                    <a:bodyPr/>
                    <a:lstStyle/>
                    <a:p>
                      <a:pPr algn="ctr">
                        <a:defRPr sz="1000">
                          <a:solidFill>
                            <a:srgbClr val="FFFFFF"/>
                          </a:solidFill>
                        </a:defRPr>
                      </a:pPr>
                      <a:r>
                        <a:t>99.99%</a:t>
                      </a:r>
                    </a:p>
                  </a:txBody>
                  <a:tcPr anchor="ctr">
                    <a:solidFill>
                      <a:srgbClr val="1E293B"/>
                    </a:solidFill>
                  </a:tcPr>
                </a:tc>
                <a:tc>
                  <a:txBody>
                    <a:bodyPr/>
                    <a:lstStyle/>
                    <a:p>
                      <a:pPr algn="ctr">
                        <a:defRPr sz="1000">
                          <a:solidFill>
                            <a:srgbClr val="FFFFFF"/>
                          </a:solidFill>
                        </a:defRPr>
                      </a:pPr>
                      <a:r>
                        <a:t>99.99%</a:t>
                      </a:r>
                    </a:p>
                  </a:txBody>
                  <a:tcPr anchor="ctr">
                    <a:solidFill>
                      <a:srgbClr val="1E293B"/>
                    </a:solidFill>
                  </a:tcPr>
                </a:tc>
                <a:tc>
                  <a:txBody>
                    <a:bodyPr/>
                    <a:lstStyle/>
                    <a:p>
                      <a:pPr algn="ctr">
                        <a:defRPr sz="1000">
                          <a:solidFill>
                            <a:srgbClr val="FFFFFF"/>
                          </a:solidFill>
                        </a:defRPr>
                      </a:pPr>
                      <a:r>
                        <a:t>0.02%</a:t>
                      </a:r>
                    </a:p>
                  </a:txBody>
                  <a:tcPr anchor="ctr">
                    <a:solidFill>
                      <a:srgbClr val="1E293B"/>
                    </a:solidFill>
                  </a:tcPr>
                </a:tc>
                <a:tc>
                  <a:txBody>
                    <a:bodyPr/>
                    <a:lstStyle/>
                    <a:p>
                      <a:pPr algn="ctr">
                        <a:defRPr sz="1000">
                          <a:solidFill>
                            <a:srgbClr val="FFFFFF"/>
                          </a:solidFill>
                        </a:defRPr>
                      </a:pPr>
                      <a:r>
                        <a:t>0.142 ms</a:t>
                      </a:r>
                    </a:p>
                  </a:txBody>
                  <a:tcPr anchor="ctr">
                    <a:solidFill>
                      <a:srgbClr val="1E293B"/>
                    </a:solidFill>
                  </a:tcPr>
                </a:tc>
                <a:tc>
                  <a:txBody>
                    <a:bodyPr/>
                    <a:lstStyle/>
                    <a:p>
                      <a:pPr algn="ctr">
                        <a:defRPr sz="1000">
                          <a:solidFill>
                            <a:srgbClr val="FFFFFF"/>
                          </a:solidFill>
                        </a:defRPr>
                      </a:pPr>
                      <a:r>
                        <a:t>PASSED (&lt; 5ms)</a:t>
                      </a:r>
                    </a:p>
                  </a:txBody>
                  <a:tcPr anchor="ctr">
                    <a:solidFill>
                      <a:srgbClr val="1E293B"/>
                    </a:solidFill>
                  </a:tcPr>
                </a:tc>
              </a:tr>
              <a:tr h="487680">
                <a:tc>
                  <a:txBody>
                    <a:bodyPr/>
                    <a:lstStyle/>
                    <a:p>
                      <a:pPr algn="l">
                        <a:defRPr sz="1000" b="1">
                          <a:solidFill>
                            <a:srgbClr val="FFFFFF"/>
                          </a:solidFill>
                        </a:defRPr>
                      </a:pPr>
                      <a:r>
                        <a:t>XGBoost</a:t>
                      </a:r>
                    </a:p>
                  </a:txBody>
                  <a:tcPr anchor="ctr">
                    <a:solidFill>
                      <a:srgbClr val="29364C"/>
                    </a:solidFill>
                  </a:tcPr>
                </a:tc>
                <a:tc>
                  <a:txBody>
                    <a:bodyPr/>
                    <a:lstStyle/>
                    <a:p>
                      <a:pPr algn="ctr">
                        <a:defRPr sz="1000">
                          <a:solidFill>
                            <a:srgbClr val="FFFFFF"/>
                          </a:solidFill>
                        </a:defRPr>
                      </a:pPr>
                      <a:r>
                        <a:t>99.99%</a:t>
                      </a:r>
                    </a:p>
                  </a:txBody>
                  <a:tcPr anchor="ctr">
                    <a:solidFill>
                      <a:srgbClr val="29364C"/>
                    </a:solidFill>
                  </a:tcPr>
                </a:tc>
                <a:tc>
                  <a:txBody>
                    <a:bodyPr/>
                    <a:lstStyle/>
                    <a:p>
                      <a:pPr algn="ctr">
                        <a:defRPr sz="1000">
                          <a:solidFill>
                            <a:srgbClr val="FFFFFF"/>
                          </a:solidFill>
                        </a:defRPr>
                      </a:pPr>
                      <a:r>
                        <a:t>99.99%</a:t>
                      </a:r>
                    </a:p>
                  </a:txBody>
                  <a:tcPr anchor="ctr">
                    <a:solidFill>
                      <a:srgbClr val="29364C"/>
                    </a:solidFill>
                  </a:tcPr>
                </a:tc>
                <a:tc>
                  <a:txBody>
                    <a:bodyPr/>
                    <a:lstStyle/>
                    <a:p>
                      <a:pPr algn="ctr">
                        <a:defRPr sz="1000">
                          <a:solidFill>
                            <a:srgbClr val="FFFFFF"/>
                          </a:solidFill>
                        </a:defRPr>
                      </a:pPr>
                      <a:r>
                        <a:t>99.99%</a:t>
                      </a:r>
                    </a:p>
                  </a:txBody>
                  <a:tcPr anchor="ctr">
                    <a:solidFill>
                      <a:srgbClr val="29364C"/>
                    </a:solidFill>
                  </a:tcPr>
                </a:tc>
                <a:tc>
                  <a:txBody>
                    <a:bodyPr/>
                    <a:lstStyle/>
                    <a:p>
                      <a:pPr algn="ctr">
                        <a:defRPr sz="1000">
                          <a:solidFill>
                            <a:srgbClr val="FFFFFF"/>
                          </a:solidFill>
                        </a:defRPr>
                      </a:pPr>
                      <a:r>
                        <a:t>99.99%</a:t>
                      </a:r>
                    </a:p>
                  </a:txBody>
                  <a:tcPr anchor="ctr">
                    <a:solidFill>
                      <a:srgbClr val="29364C"/>
                    </a:solidFill>
                  </a:tcPr>
                </a:tc>
                <a:tc>
                  <a:txBody>
                    <a:bodyPr/>
                    <a:lstStyle/>
                    <a:p>
                      <a:pPr algn="ctr">
                        <a:defRPr sz="1000">
                          <a:solidFill>
                            <a:srgbClr val="FFFFFF"/>
                          </a:solidFill>
                        </a:defRPr>
                      </a:pPr>
                      <a:r>
                        <a:t>99.99%</a:t>
                      </a:r>
                    </a:p>
                  </a:txBody>
                  <a:tcPr anchor="ctr">
                    <a:solidFill>
                      <a:srgbClr val="29364C"/>
                    </a:solidFill>
                  </a:tcPr>
                </a:tc>
                <a:tc>
                  <a:txBody>
                    <a:bodyPr/>
                    <a:lstStyle/>
                    <a:p>
                      <a:pPr algn="ctr">
                        <a:defRPr sz="1000">
                          <a:solidFill>
                            <a:srgbClr val="FFFFFF"/>
                          </a:solidFill>
                        </a:defRPr>
                      </a:pPr>
                      <a:r>
                        <a:t>0.02%</a:t>
                      </a:r>
                    </a:p>
                  </a:txBody>
                  <a:tcPr anchor="ctr">
                    <a:solidFill>
                      <a:srgbClr val="29364C"/>
                    </a:solidFill>
                  </a:tcPr>
                </a:tc>
                <a:tc>
                  <a:txBody>
                    <a:bodyPr/>
                    <a:lstStyle/>
                    <a:p>
                      <a:pPr algn="ctr">
                        <a:defRPr sz="1000">
                          <a:solidFill>
                            <a:srgbClr val="FFFFFF"/>
                          </a:solidFill>
                        </a:defRPr>
                      </a:pPr>
                      <a:r>
                        <a:t>0.525 ms</a:t>
                      </a:r>
                    </a:p>
                  </a:txBody>
                  <a:tcPr anchor="ctr">
                    <a:solidFill>
                      <a:srgbClr val="29364C"/>
                    </a:solidFill>
                  </a:tcPr>
                </a:tc>
                <a:tc>
                  <a:txBody>
                    <a:bodyPr/>
                    <a:lstStyle/>
                    <a:p>
                      <a:pPr algn="ctr">
                        <a:defRPr sz="1000">
                          <a:solidFill>
                            <a:srgbClr val="FFFFFF"/>
                          </a:solidFill>
                        </a:defRPr>
                      </a:pPr>
                      <a:r>
                        <a:t>PASSED (&lt; 5ms)</a:t>
                      </a:r>
                    </a:p>
                  </a:txBody>
                  <a:tcPr anchor="ctr">
                    <a:solidFill>
                      <a:srgbClr val="29364C"/>
                    </a:solidFill>
                  </a:tcPr>
                </a:tc>
              </a:tr>
              <a:tr h="487680">
                <a:tc>
                  <a:txBody>
                    <a:bodyPr/>
                    <a:lstStyle/>
                    <a:p>
                      <a:pPr algn="l">
                        <a:defRPr sz="1000" b="1">
                          <a:solidFill>
                            <a:srgbClr val="FFFFFF"/>
                          </a:solidFill>
                        </a:defRPr>
                      </a:pPr>
                      <a:r>
                        <a:t>Random Forest</a:t>
                      </a:r>
                    </a:p>
                  </a:txBody>
                  <a:tcPr anchor="ctr">
                    <a:solidFill>
                      <a:srgbClr val="1E293B"/>
                    </a:solidFill>
                  </a:tcPr>
                </a:tc>
                <a:tc>
                  <a:txBody>
                    <a:bodyPr/>
                    <a:lstStyle/>
                    <a:p>
                      <a:pPr algn="ctr">
                        <a:defRPr sz="1000">
                          <a:solidFill>
                            <a:srgbClr val="FFFFFF"/>
                          </a:solidFill>
                        </a:defRPr>
                      </a:pPr>
                      <a:r>
                        <a:t>99.99%</a:t>
                      </a:r>
                    </a:p>
                  </a:txBody>
                  <a:tcPr anchor="ctr">
                    <a:solidFill>
                      <a:srgbClr val="1E293B"/>
                    </a:solidFill>
                  </a:tcPr>
                </a:tc>
                <a:tc>
                  <a:txBody>
                    <a:bodyPr/>
                    <a:lstStyle/>
                    <a:p>
                      <a:pPr algn="ctr">
                        <a:defRPr sz="1000">
                          <a:solidFill>
                            <a:srgbClr val="FFFFFF"/>
                          </a:solidFill>
                        </a:defRPr>
                      </a:pPr>
                      <a:r>
                        <a:t>99.99%</a:t>
                      </a:r>
                    </a:p>
                  </a:txBody>
                  <a:tcPr anchor="ctr">
                    <a:solidFill>
                      <a:srgbClr val="1E293B"/>
                    </a:solidFill>
                  </a:tcPr>
                </a:tc>
                <a:tc>
                  <a:txBody>
                    <a:bodyPr/>
                    <a:lstStyle/>
                    <a:p>
                      <a:pPr algn="ctr">
                        <a:defRPr sz="1000">
                          <a:solidFill>
                            <a:srgbClr val="FFFFFF"/>
                          </a:solidFill>
                        </a:defRPr>
                      </a:pPr>
                      <a:r>
                        <a:t>99.99%</a:t>
                      </a:r>
                    </a:p>
                  </a:txBody>
                  <a:tcPr anchor="ctr">
                    <a:solidFill>
                      <a:srgbClr val="1E293B"/>
                    </a:solidFill>
                  </a:tcPr>
                </a:tc>
                <a:tc>
                  <a:txBody>
                    <a:bodyPr/>
                    <a:lstStyle/>
                    <a:p>
                      <a:pPr algn="ctr">
                        <a:defRPr sz="1000">
                          <a:solidFill>
                            <a:srgbClr val="FFFFFF"/>
                          </a:solidFill>
                        </a:defRPr>
                      </a:pPr>
                      <a:r>
                        <a:t>99.99%</a:t>
                      </a:r>
                    </a:p>
                  </a:txBody>
                  <a:tcPr anchor="ctr">
                    <a:solidFill>
                      <a:srgbClr val="1E293B"/>
                    </a:solidFill>
                  </a:tcPr>
                </a:tc>
                <a:tc>
                  <a:txBody>
                    <a:bodyPr/>
                    <a:lstStyle/>
                    <a:p>
                      <a:pPr algn="ctr">
                        <a:defRPr sz="1000">
                          <a:solidFill>
                            <a:srgbClr val="FFFFFF"/>
                          </a:solidFill>
                        </a:defRPr>
                      </a:pPr>
                      <a:r>
                        <a:t>99.99%</a:t>
                      </a:r>
                    </a:p>
                  </a:txBody>
                  <a:tcPr anchor="ctr">
                    <a:solidFill>
                      <a:srgbClr val="1E293B"/>
                    </a:solidFill>
                  </a:tcPr>
                </a:tc>
                <a:tc>
                  <a:txBody>
                    <a:bodyPr/>
                    <a:lstStyle/>
                    <a:p>
                      <a:pPr algn="ctr">
                        <a:defRPr sz="1000">
                          <a:solidFill>
                            <a:srgbClr val="FFFFFF"/>
                          </a:solidFill>
                        </a:defRPr>
                      </a:pPr>
                      <a:r>
                        <a:t>0.006%</a:t>
                      </a:r>
                    </a:p>
                  </a:txBody>
                  <a:tcPr anchor="ctr">
                    <a:solidFill>
                      <a:srgbClr val="1E293B"/>
                    </a:solidFill>
                  </a:tcPr>
                </a:tc>
                <a:tc>
                  <a:txBody>
                    <a:bodyPr/>
                    <a:lstStyle/>
                    <a:p>
                      <a:pPr algn="ctr">
                        <a:defRPr sz="1000">
                          <a:solidFill>
                            <a:srgbClr val="FFFFFF"/>
                          </a:solidFill>
                        </a:defRPr>
                      </a:pPr>
                      <a:r>
                        <a:t>36.87 ms</a:t>
                      </a:r>
                    </a:p>
                  </a:txBody>
                  <a:tcPr anchor="ctr">
                    <a:solidFill>
                      <a:srgbClr val="1E293B"/>
                    </a:solidFill>
                  </a:tcPr>
                </a:tc>
                <a:tc>
                  <a:txBody>
                    <a:bodyPr/>
                    <a:lstStyle/>
                    <a:p>
                      <a:pPr algn="ctr">
                        <a:defRPr sz="1000">
                          <a:solidFill>
                            <a:srgbClr val="FFFFFF"/>
                          </a:solidFill>
                        </a:defRPr>
                      </a:pPr>
                      <a:r>
                        <a:t>Slower than SLA</a:t>
                      </a:r>
                    </a:p>
                  </a:txBody>
                  <a:tcPr anchor="ctr">
                    <a:solidFill>
                      <a:srgbClr val="1E293B"/>
                    </a:solidFill>
                  </a:tcPr>
                </a:tc>
              </a:tr>
              <a:tr h="487680">
                <a:tc>
                  <a:txBody>
                    <a:bodyPr/>
                    <a:lstStyle/>
                    <a:p>
                      <a:pPr algn="l">
                        <a:defRPr sz="1000" b="1">
                          <a:solidFill>
                            <a:srgbClr val="FFFFFF"/>
                          </a:solidFill>
                        </a:defRPr>
                      </a:pPr>
                      <a:r>
                        <a:t>LSTM (Neural)</a:t>
                      </a:r>
                    </a:p>
                  </a:txBody>
                  <a:tcPr anchor="ctr">
                    <a:solidFill>
                      <a:srgbClr val="29364C"/>
                    </a:solidFill>
                  </a:tcPr>
                </a:tc>
                <a:tc>
                  <a:txBody>
                    <a:bodyPr/>
                    <a:lstStyle/>
                    <a:p>
                      <a:pPr algn="ctr">
                        <a:defRPr sz="1000">
                          <a:solidFill>
                            <a:srgbClr val="FFFFFF"/>
                          </a:solidFill>
                        </a:defRPr>
                      </a:pPr>
                      <a:r>
                        <a:t>99.87%</a:t>
                      </a:r>
                    </a:p>
                  </a:txBody>
                  <a:tcPr anchor="ctr">
                    <a:solidFill>
                      <a:srgbClr val="29364C"/>
                    </a:solidFill>
                  </a:tcPr>
                </a:tc>
                <a:tc>
                  <a:txBody>
                    <a:bodyPr/>
                    <a:lstStyle/>
                    <a:p>
                      <a:pPr algn="ctr">
                        <a:defRPr sz="1000">
                          <a:solidFill>
                            <a:srgbClr val="FFFFFF"/>
                          </a:solidFill>
                        </a:defRPr>
                      </a:pPr>
                      <a:r>
                        <a:t>99.86%</a:t>
                      </a:r>
                    </a:p>
                  </a:txBody>
                  <a:tcPr anchor="ctr">
                    <a:solidFill>
                      <a:srgbClr val="29364C"/>
                    </a:solidFill>
                  </a:tcPr>
                </a:tc>
                <a:tc>
                  <a:txBody>
                    <a:bodyPr/>
                    <a:lstStyle/>
                    <a:p>
                      <a:pPr algn="ctr">
                        <a:defRPr sz="1000">
                          <a:solidFill>
                            <a:srgbClr val="FFFFFF"/>
                          </a:solidFill>
                        </a:defRPr>
                      </a:pPr>
                      <a:r>
                        <a:t>99.97%</a:t>
                      </a:r>
                    </a:p>
                  </a:txBody>
                  <a:tcPr anchor="ctr">
                    <a:solidFill>
                      <a:srgbClr val="29364C"/>
                    </a:solidFill>
                  </a:tcPr>
                </a:tc>
                <a:tc>
                  <a:txBody>
                    <a:bodyPr/>
                    <a:lstStyle/>
                    <a:p>
                      <a:pPr algn="ctr">
                        <a:defRPr sz="1000">
                          <a:solidFill>
                            <a:srgbClr val="FFFFFF"/>
                          </a:solidFill>
                        </a:defRPr>
                      </a:pPr>
                      <a:r>
                        <a:t>99.84%</a:t>
                      </a:r>
                    </a:p>
                  </a:txBody>
                  <a:tcPr anchor="ctr">
                    <a:solidFill>
                      <a:srgbClr val="29364C"/>
                    </a:solidFill>
                  </a:tcPr>
                </a:tc>
                <a:tc>
                  <a:txBody>
                    <a:bodyPr/>
                    <a:lstStyle/>
                    <a:p>
                      <a:pPr algn="ctr">
                        <a:defRPr sz="1000">
                          <a:solidFill>
                            <a:srgbClr val="FFFFFF"/>
                          </a:solidFill>
                        </a:defRPr>
                      </a:pPr>
                      <a:r>
                        <a:t>99.87%</a:t>
                      </a:r>
                    </a:p>
                  </a:txBody>
                  <a:tcPr anchor="ctr">
                    <a:solidFill>
                      <a:srgbClr val="29364C"/>
                    </a:solidFill>
                  </a:tcPr>
                </a:tc>
                <a:tc>
                  <a:txBody>
                    <a:bodyPr/>
                    <a:lstStyle/>
                    <a:p>
                      <a:pPr algn="ctr">
                        <a:defRPr sz="1000">
                          <a:solidFill>
                            <a:srgbClr val="FFFFFF"/>
                          </a:solidFill>
                        </a:defRPr>
                      </a:pPr>
                      <a:r>
                        <a:t>0.38%</a:t>
                      </a:r>
                    </a:p>
                  </a:txBody>
                  <a:tcPr anchor="ctr">
                    <a:solidFill>
                      <a:srgbClr val="29364C"/>
                    </a:solidFill>
                  </a:tcPr>
                </a:tc>
                <a:tc>
                  <a:txBody>
                    <a:bodyPr/>
                    <a:lstStyle/>
                    <a:p>
                      <a:pPr algn="ctr">
                        <a:defRPr sz="1000">
                          <a:solidFill>
                            <a:srgbClr val="FFFFFF"/>
                          </a:solidFill>
                        </a:defRPr>
                      </a:pPr>
                      <a:r>
                        <a:t>91.64 ms</a:t>
                      </a:r>
                    </a:p>
                  </a:txBody>
                  <a:tcPr anchor="ctr">
                    <a:solidFill>
                      <a:srgbClr val="29364C"/>
                    </a:solidFill>
                  </a:tcPr>
                </a:tc>
                <a:tc>
                  <a:txBody>
                    <a:bodyPr/>
                    <a:lstStyle/>
                    <a:p>
                      <a:pPr algn="ctr">
                        <a:defRPr sz="1000">
                          <a:solidFill>
                            <a:srgbClr val="FFFFFF"/>
                          </a:solidFill>
                        </a:defRPr>
                      </a:pPr>
                      <a:r>
                        <a:t>Slower than SLA</a:t>
                      </a:r>
                    </a:p>
                  </a:txBody>
                  <a:tcPr anchor="ctr">
                    <a:solidFill>
                      <a:srgbClr val="29364C"/>
                    </a:solidFill>
                  </a:tcPr>
                </a:tc>
              </a:tr>
              <a:tr h="487680">
                <a:tc>
                  <a:txBody>
                    <a:bodyPr/>
                    <a:lstStyle/>
                    <a:p>
                      <a:pPr algn="l">
                        <a:defRPr sz="1000" b="1">
                          <a:solidFill>
                            <a:srgbClr val="FFFFFF"/>
                          </a:solidFill>
                        </a:defRPr>
                      </a:pPr>
                      <a:r>
                        <a:t>Logistic Regression</a:t>
                      </a:r>
                    </a:p>
                  </a:txBody>
                  <a:tcPr anchor="ctr">
                    <a:solidFill>
                      <a:srgbClr val="1E293B"/>
                    </a:solidFill>
                  </a:tcPr>
                </a:tc>
                <a:tc>
                  <a:txBody>
                    <a:bodyPr/>
                    <a:lstStyle/>
                    <a:p>
                      <a:pPr algn="ctr">
                        <a:defRPr sz="1000">
                          <a:solidFill>
                            <a:srgbClr val="FFFFFF"/>
                          </a:solidFill>
                        </a:defRPr>
                      </a:pPr>
                      <a:r>
                        <a:t>98.90%</a:t>
                      </a:r>
                    </a:p>
                  </a:txBody>
                  <a:tcPr anchor="ctr">
                    <a:solidFill>
                      <a:srgbClr val="1E293B"/>
                    </a:solidFill>
                  </a:tcPr>
                </a:tc>
                <a:tc>
                  <a:txBody>
                    <a:bodyPr/>
                    <a:lstStyle/>
                    <a:p>
                      <a:pPr algn="ctr">
                        <a:defRPr sz="1000">
                          <a:solidFill>
                            <a:srgbClr val="FFFFFF"/>
                          </a:solidFill>
                        </a:defRPr>
                      </a:pPr>
                      <a:r>
                        <a:t>99.46%</a:t>
                      </a:r>
                    </a:p>
                  </a:txBody>
                  <a:tcPr anchor="ctr">
                    <a:solidFill>
                      <a:srgbClr val="1E293B"/>
                    </a:solidFill>
                  </a:tcPr>
                </a:tc>
                <a:tc>
                  <a:txBody>
                    <a:bodyPr/>
                    <a:lstStyle/>
                    <a:p>
                      <a:pPr algn="ctr">
                        <a:defRPr sz="1000">
                          <a:solidFill>
                            <a:srgbClr val="FFFFFF"/>
                          </a:solidFill>
                        </a:defRPr>
                      </a:pPr>
                      <a:r>
                        <a:t>99.04%</a:t>
                      </a:r>
                    </a:p>
                  </a:txBody>
                  <a:tcPr anchor="ctr">
                    <a:solidFill>
                      <a:srgbClr val="1E293B"/>
                    </a:solidFill>
                  </a:tcPr>
                </a:tc>
                <a:tc>
                  <a:txBody>
                    <a:bodyPr/>
                    <a:lstStyle/>
                    <a:p>
                      <a:pPr algn="ctr">
                        <a:defRPr sz="1000">
                          <a:solidFill>
                            <a:srgbClr val="FFFFFF"/>
                          </a:solidFill>
                        </a:defRPr>
                      </a:pPr>
                      <a:r>
                        <a:t>98.62%</a:t>
                      </a:r>
                    </a:p>
                  </a:txBody>
                  <a:tcPr anchor="ctr">
                    <a:solidFill>
                      <a:srgbClr val="1E293B"/>
                    </a:solidFill>
                  </a:tcPr>
                </a:tc>
                <a:tc>
                  <a:txBody>
                    <a:bodyPr/>
                    <a:lstStyle/>
                    <a:p>
                      <a:pPr algn="ctr">
                        <a:defRPr sz="1000">
                          <a:solidFill>
                            <a:srgbClr val="FFFFFF"/>
                          </a:solidFill>
                        </a:defRPr>
                      </a:pPr>
                      <a:r>
                        <a:t>98.91%</a:t>
                      </a:r>
                    </a:p>
                  </a:txBody>
                  <a:tcPr anchor="ctr">
                    <a:solidFill>
                      <a:srgbClr val="1E293B"/>
                    </a:solidFill>
                  </a:tcPr>
                </a:tc>
                <a:tc>
                  <a:txBody>
                    <a:bodyPr/>
                    <a:lstStyle/>
                    <a:p>
                      <a:pPr algn="ctr">
                        <a:defRPr sz="1000">
                          <a:solidFill>
                            <a:srgbClr val="FFFFFF"/>
                          </a:solidFill>
                        </a:defRPr>
                      </a:pPr>
                      <a:r>
                        <a:t>1.45%</a:t>
                      </a:r>
                    </a:p>
                  </a:txBody>
                  <a:tcPr anchor="ctr">
                    <a:solidFill>
                      <a:srgbClr val="1E293B"/>
                    </a:solidFill>
                  </a:tcPr>
                </a:tc>
                <a:tc>
                  <a:txBody>
                    <a:bodyPr/>
                    <a:lstStyle/>
                    <a:p>
                      <a:pPr algn="ctr">
                        <a:defRPr sz="1000">
                          <a:solidFill>
                            <a:srgbClr val="FFFFFF"/>
                          </a:solidFill>
                        </a:defRPr>
                      </a:pPr>
                      <a:r>
                        <a:t>0.175 ms</a:t>
                      </a:r>
                    </a:p>
                  </a:txBody>
                  <a:tcPr anchor="ctr">
                    <a:solidFill>
                      <a:srgbClr val="1E293B"/>
                    </a:solidFill>
                  </a:tcPr>
                </a:tc>
                <a:tc>
                  <a:txBody>
                    <a:bodyPr/>
                    <a:lstStyle/>
                    <a:p>
                      <a:pPr algn="ctr">
                        <a:defRPr sz="1000">
                          <a:solidFill>
                            <a:srgbClr val="FFFFFF"/>
                          </a:solidFill>
                        </a:defRPr>
                      </a:pPr>
                      <a:r>
                        <a:t>PASSED (&lt; 5ms)</a:t>
                      </a:r>
                    </a:p>
                  </a:txBody>
                  <a:tcPr anchor="ctr">
                    <a:solidFill>
                      <a:srgbClr val="1E293B"/>
                    </a:solidFill>
                  </a:tcPr>
                </a:tc>
              </a:tr>
            </a:tbl>
          </a:graphicData>
        </a:graphic>
      </p:graphicFrame>
      <p:sp>
        <p:nvSpPr>
          <p:cNvPr id="7" name="Rounded Rectangle 6"/>
          <p:cNvSpPr/>
          <p:nvPr/>
        </p:nvSpPr>
        <p:spPr>
          <a:xfrm>
            <a:off x="731520" y="4754880"/>
            <a:ext cx="10698480" cy="146304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846320"/>
            <a:ext cx="10332720" cy="1280160"/>
          </a:xfrm>
          <a:prstGeom prst="rect">
            <a:avLst/>
          </a:prstGeom>
          <a:noFill/>
        </p:spPr>
        <p:txBody>
          <a:bodyPr wrap="square">
            <a:spAutoFit/>
          </a:bodyPr>
          <a:lstStyle/>
          <a:p>
            <a:pPr>
              <a:defRPr b="1" sz="1400">
                <a:solidFill>
                  <a:srgbClr val="0EA5E9"/>
                </a:solidFill>
              </a:defRPr>
            </a:pPr>
            <a:r>
              <a:t>Key Evaluation Insights for SDN Deployment</a:t>
            </a:r>
          </a:p>
          <a:p>
            <a:pPr>
              <a:spcBef>
                <a:spcPts val="400"/>
              </a:spcBef>
              <a:defRPr sz="1100">
                <a:solidFill>
                  <a:srgbClr val="94A3B8"/>
                </a:solidFill>
              </a:defRPr>
            </a:pPr>
            <a:r>
              <a:t>• Decision Tree and XGBoost achieved top-tier discrimination (99.99% Macro F1) with False Positive Rates of 0.02%, preserving legitimate network traffic without false drops.</a:t>
            </a:r>
            <a:br/>
            <a:r>
              <a:t>• Crucially, Decision Tree delivers 0.142 ms latency (over 35x faster than the 5ms SLA), whereas Random Forest (36.87 ms) and LSTM (91.64 ms) are bottlenecked by recursive ensemble lookups and recurrent cell state unwinding.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228600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9144000" cy="274320"/>
          </a:xfrm>
          <a:prstGeom prst="rect">
            <a:avLst/>
          </a:prstGeom>
          <a:noFill/>
        </p:spPr>
        <p:txBody>
          <a:bodyPr wrap="square">
            <a:spAutoFit/>
          </a:bodyPr>
          <a:lstStyle/>
          <a:p>
            <a:pPr>
              <a:defRPr sz="1000" b="1">
                <a:solidFill>
                  <a:srgbClr val="0EA5E9"/>
                </a:solidFill>
              </a:defRPr>
            </a:pPr>
            <a:r>
              <a:t>PHASE 4: DIAGNOSTIC PLOTS</a:t>
            </a:r>
          </a:p>
        </p:txBody>
      </p:sp>
      <p:sp>
        <p:nvSpPr>
          <p:cNvPr id="5" name="TextBox 4"/>
          <p:cNvSpPr txBox="1"/>
          <p:nvPr/>
        </p:nvSpPr>
        <p:spPr>
          <a:xfrm>
            <a:off x="731520" y="685800"/>
            <a:ext cx="10698480" cy="640080"/>
          </a:xfrm>
          <a:prstGeom prst="rect">
            <a:avLst/>
          </a:prstGeom>
          <a:noFill/>
        </p:spPr>
        <p:txBody>
          <a:bodyPr wrap="square">
            <a:spAutoFit/>
          </a:bodyPr>
          <a:lstStyle/>
          <a:p>
            <a:pPr>
              <a:defRPr sz="2400" b="1">
                <a:solidFill>
                  <a:srgbClr val="FFFFFF"/>
                </a:solidFill>
              </a:defRPr>
            </a:pPr>
            <a:r>
              <a:t>Confusion Matrices Across All Evaluated Models</a:t>
            </a:r>
          </a:p>
        </p:txBody>
      </p:sp>
      <p:sp>
        <p:nvSpPr>
          <p:cNvPr id="6" name="Rounded Rectangle 5"/>
          <p:cNvSpPr/>
          <p:nvPr/>
        </p:nvSpPr>
        <p:spPr>
          <a:xfrm>
            <a:off x="731520" y="1463040"/>
            <a:ext cx="685800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nfusion_matrices_all_models.png"/>
          <p:cNvPicPr>
            <a:picLocks noChangeAspect="1"/>
          </p:cNvPicPr>
          <p:nvPr/>
        </p:nvPicPr>
        <p:blipFill>
          <a:blip r:embed="rId2"/>
          <a:stretch>
            <a:fillRect/>
          </a:stretch>
        </p:blipFill>
        <p:spPr>
          <a:xfrm>
            <a:off x="914400" y="1645920"/>
            <a:ext cx="6492240" cy="4389120"/>
          </a:xfrm>
          <a:prstGeom prst="rect">
            <a:avLst/>
          </a:prstGeom>
        </p:spPr>
      </p:pic>
      <p:sp>
        <p:nvSpPr>
          <p:cNvPr id="8" name="Rounded Rectangle 7"/>
          <p:cNvSpPr/>
          <p:nvPr/>
        </p:nvSpPr>
        <p:spPr>
          <a:xfrm>
            <a:off x="7863840" y="1463040"/>
            <a:ext cx="356616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0" y="1645920"/>
            <a:ext cx="3200400" cy="457200"/>
          </a:xfrm>
          <a:prstGeom prst="rect">
            <a:avLst/>
          </a:prstGeom>
          <a:noFill/>
        </p:spPr>
        <p:txBody>
          <a:bodyPr wrap="none">
            <a:spAutoFit/>
          </a:bodyPr>
          <a:lstStyle/>
          <a:p>
            <a:pPr>
              <a:defRPr sz="1600" b="1">
                <a:solidFill>
                  <a:srgbClr val="0EA5E9"/>
                </a:solidFill>
              </a:defRPr>
            </a:pPr>
            <a:r>
              <a:t>Confusion Matrix Analysis</a:t>
            </a:r>
          </a:p>
        </p:txBody>
      </p:sp>
      <p:sp>
        <p:nvSpPr>
          <p:cNvPr id="10" name="TextBox 9"/>
          <p:cNvSpPr txBox="1"/>
          <p:nvPr/>
        </p:nvSpPr>
        <p:spPr>
          <a:xfrm>
            <a:off x="8046720" y="2194560"/>
            <a:ext cx="3200400" cy="3840480"/>
          </a:xfrm>
          <a:prstGeom prst="rect">
            <a:avLst/>
          </a:prstGeom>
          <a:noFill/>
        </p:spPr>
        <p:txBody>
          <a:bodyPr wrap="square" tIns="91440">
            <a:spAutoFit/>
          </a:bodyPr>
          <a:lstStyle/>
          <a:p>
            <a:pPr>
              <a:spcAft>
                <a:spcPts val="1200"/>
              </a:spcAft>
            </a:pPr>
            <a:r>
              <a:rPr b="1" sz="1100">
                <a:solidFill>
                  <a:srgbClr val="0EA5E9"/>
                </a:solidFill>
              </a:rPr>
              <a:t>Near-Zero False Alarms: </a:t>
            </a:r>
            <a:r>
              <a:rPr sz="1100">
                <a:solidFill>
                  <a:srgbClr val="FFFFFF"/>
                </a:solidFill>
              </a:rPr>
              <a:t>Across 62k unseen packets, Decision Tree and XGBoost misclassified fewer than 15 benign packets as DDoS.</a:t>
            </a:r>
          </a:p>
          <a:p>
            <a:pPr>
              <a:spcAft>
                <a:spcPts val="1200"/>
              </a:spcAft>
            </a:pPr>
            <a:r>
              <a:rPr b="1" sz="1100">
                <a:solidFill>
                  <a:srgbClr val="0EA5E9"/>
                </a:solidFill>
              </a:rPr>
              <a:t>Virtually Zero False Negatives: </a:t>
            </a:r>
            <a:r>
              <a:rPr sz="1100">
                <a:solidFill>
                  <a:srgbClr val="FFFFFF"/>
                </a:solidFill>
              </a:rPr>
              <a:t>Recall exceeded 99.99% in tabular trees; malicious volumetric floods were intercepted immediately.</a:t>
            </a:r>
          </a:p>
          <a:p>
            <a:pPr>
              <a:spcAft>
                <a:spcPts val="1200"/>
              </a:spcAft>
            </a:pPr>
            <a:r>
              <a:rPr b="1" sz="1100">
                <a:solidFill>
                  <a:srgbClr val="0EA5E9"/>
                </a:solidFill>
              </a:rPr>
              <a:t>Linear Baseline Limitations: </a:t>
            </a:r>
            <a:r>
              <a:rPr sz="1100">
                <a:solidFill>
                  <a:srgbClr val="FFFFFF"/>
                </a:solidFill>
              </a:rPr>
              <a:t>Logistic Regression yielded 1.45% FPR, proving non-linear boundaries are mandatory for DDoS mitigation.</a:t>
            </a:r>
          </a:p>
          <a:p>
            <a:pPr>
              <a:spcAft>
                <a:spcPts val="1200"/>
              </a:spcAft>
            </a:pPr>
            <a:r>
              <a:rPr b="1" sz="1100">
                <a:solidFill>
                  <a:srgbClr val="0EA5E9"/>
                </a:solidFill>
              </a:rPr>
              <a:t>LSTM Robustness: </a:t>
            </a:r>
            <a:r>
              <a:rPr sz="1100">
                <a:solidFill>
                  <a:srgbClr val="FFFFFF"/>
                </a:solidFill>
              </a:rPr>
              <a:t>LSTM neural network demonstrated robust true positive isolation with minimal misclassifications.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228600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9144000" cy="274320"/>
          </a:xfrm>
          <a:prstGeom prst="rect">
            <a:avLst/>
          </a:prstGeom>
          <a:noFill/>
        </p:spPr>
        <p:txBody>
          <a:bodyPr wrap="square">
            <a:spAutoFit/>
          </a:bodyPr>
          <a:lstStyle/>
          <a:p>
            <a:pPr>
              <a:defRPr sz="1000" b="1">
                <a:solidFill>
                  <a:srgbClr val="0EA5E9"/>
                </a:solidFill>
              </a:defRPr>
            </a:pPr>
            <a:r>
              <a:t>PHASE 4: ATTACK DIVERSITY</a:t>
            </a:r>
          </a:p>
        </p:txBody>
      </p:sp>
      <p:sp>
        <p:nvSpPr>
          <p:cNvPr id="5" name="TextBox 4"/>
          <p:cNvSpPr txBox="1"/>
          <p:nvPr/>
        </p:nvSpPr>
        <p:spPr>
          <a:xfrm>
            <a:off x="731520" y="685800"/>
            <a:ext cx="10698480" cy="640080"/>
          </a:xfrm>
          <a:prstGeom prst="rect">
            <a:avLst/>
          </a:prstGeom>
          <a:noFill/>
        </p:spPr>
        <p:txBody>
          <a:bodyPr wrap="square">
            <a:spAutoFit/>
          </a:bodyPr>
          <a:lstStyle/>
          <a:p>
            <a:pPr>
              <a:defRPr sz="2400" b="1">
                <a:solidFill>
                  <a:srgbClr val="FFFFFF"/>
                </a:solidFill>
              </a:defRPr>
            </a:pPr>
            <a:r>
              <a:t>Per-Attack Category Classification Breakdown</a:t>
            </a:r>
          </a:p>
        </p:txBody>
      </p:sp>
      <p:sp>
        <p:nvSpPr>
          <p:cNvPr id="6" name="Rounded Rectangle 5"/>
          <p:cNvSpPr/>
          <p:nvPr/>
        </p:nvSpPr>
        <p:spPr>
          <a:xfrm>
            <a:off x="731520" y="1463040"/>
            <a:ext cx="685800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nfusion_matrices_per_attack.png"/>
          <p:cNvPicPr>
            <a:picLocks noChangeAspect="1"/>
          </p:cNvPicPr>
          <p:nvPr/>
        </p:nvPicPr>
        <p:blipFill>
          <a:blip r:embed="rId2"/>
          <a:stretch>
            <a:fillRect/>
          </a:stretch>
        </p:blipFill>
        <p:spPr>
          <a:xfrm>
            <a:off x="914400" y="1645920"/>
            <a:ext cx="6492240" cy="4389120"/>
          </a:xfrm>
          <a:prstGeom prst="rect">
            <a:avLst/>
          </a:prstGeom>
        </p:spPr>
      </p:pic>
      <p:sp>
        <p:nvSpPr>
          <p:cNvPr id="8" name="Rounded Rectangle 7"/>
          <p:cNvSpPr/>
          <p:nvPr/>
        </p:nvSpPr>
        <p:spPr>
          <a:xfrm>
            <a:off x="7863840" y="1463040"/>
            <a:ext cx="356616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0" y="1645920"/>
            <a:ext cx="3200400" cy="457200"/>
          </a:xfrm>
          <a:prstGeom prst="rect">
            <a:avLst/>
          </a:prstGeom>
          <a:noFill/>
        </p:spPr>
        <p:txBody>
          <a:bodyPr wrap="none">
            <a:spAutoFit/>
          </a:bodyPr>
          <a:lstStyle/>
          <a:p>
            <a:pPr>
              <a:defRPr sz="1600" b="1">
                <a:solidFill>
                  <a:srgbClr val="10B981"/>
                </a:solidFill>
              </a:defRPr>
            </a:pPr>
            <a:r>
              <a:t>11 DDoS Vectors Verified</a:t>
            </a:r>
          </a:p>
        </p:txBody>
      </p:sp>
      <p:sp>
        <p:nvSpPr>
          <p:cNvPr id="10" name="TextBox 9"/>
          <p:cNvSpPr txBox="1"/>
          <p:nvPr/>
        </p:nvSpPr>
        <p:spPr>
          <a:xfrm>
            <a:off x="8046720" y="2194560"/>
            <a:ext cx="3200400" cy="3840480"/>
          </a:xfrm>
          <a:prstGeom prst="rect">
            <a:avLst/>
          </a:prstGeom>
          <a:noFill/>
        </p:spPr>
        <p:txBody>
          <a:bodyPr wrap="square" tIns="91440">
            <a:spAutoFit/>
          </a:bodyPr>
          <a:lstStyle/>
          <a:p>
            <a:pPr>
              <a:spcAft>
                <a:spcPts val="1200"/>
              </a:spcAft>
            </a:pPr>
            <a:r>
              <a:rPr b="1" sz="1100">
                <a:solidFill>
                  <a:srgbClr val="0EA5E9"/>
                </a:solidFill>
              </a:rPr>
              <a:t>Amplification Vectors: </a:t>
            </a:r>
            <a:r>
              <a:rPr sz="1100">
                <a:solidFill>
                  <a:srgbClr val="FFFFFF"/>
                </a:solidFill>
              </a:rPr>
              <a:t>100.0% accuracy on DNS, NTP, SNMP, MSSQL, SSDP, and TFTP reflection attacks.</a:t>
            </a:r>
          </a:p>
          <a:p>
            <a:pPr>
              <a:spcAft>
                <a:spcPts val="1200"/>
              </a:spcAft>
            </a:pPr>
            <a:r>
              <a:rPr b="1" sz="1100">
                <a:solidFill>
                  <a:srgbClr val="0EA5E9"/>
                </a:solidFill>
              </a:rPr>
              <a:t>Direct Protocol Floods: </a:t>
            </a:r>
            <a:r>
              <a:rPr sz="1100">
                <a:solidFill>
                  <a:srgbClr val="FFFFFF"/>
                </a:solidFill>
              </a:rPr>
              <a:t>Perfect detection on SYN, UDP, and UDP-lag volumetric packet floods.</a:t>
            </a:r>
          </a:p>
          <a:p>
            <a:pPr>
              <a:spcAft>
                <a:spcPts val="1200"/>
              </a:spcAft>
            </a:pPr>
            <a:r>
              <a:rPr b="1" sz="1100">
                <a:solidFill>
                  <a:srgbClr val="0EA5E9"/>
                </a:solidFill>
              </a:rPr>
              <a:t>LDAP &amp; NetBIOS: </a:t>
            </a:r>
            <a:r>
              <a:rPr sz="1100">
                <a:solidFill>
                  <a:srgbClr val="FFFFFF"/>
                </a:solidFill>
              </a:rPr>
              <a:t>Maintained &gt; 99.8% precision on complex Active Directory and Windows NetBIOS exploit vectors.</a:t>
            </a:r>
          </a:p>
          <a:p>
            <a:pPr>
              <a:spcAft>
                <a:spcPts val="1200"/>
              </a:spcAft>
            </a:pPr>
            <a:r>
              <a:rPr b="1" sz="1100">
                <a:solidFill>
                  <a:srgbClr val="0EA5E9"/>
                </a:solidFill>
              </a:rPr>
              <a:t>Universal Mitigation: </a:t>
            </a:r>
            <a:r>
              <a:rPr sz="1100">
                <a:solidFill>
                  <a:srgbClr val="FFFFFF"/>
                </a:solidFill>
              </a:rPr>
              <a:t>A single unified model successfully defends against both reflection and protocol flood categories.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228600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9144000" cy="274320"/>
          </a:xfrm>
          <a:prstGeom prst="rect">
            <a:avLst/>
          </a:prstGeom>
          <a:noFill/>
        </p:spPr>
        <p:txBody>
          <a:bodyPr wrap="square">
            <a:spAutoFit/>
          </a:bodyPr>
          <a:lstStyle/>
          <a:p>
            <a:pPr>
              <a:defRPr sz="1000" b="1">
                <a:solidFill>
                  <a:srgbClr val="0EA5E9"/>
                </a:solidFill>
              </a:defRPr>
            </a:pPr>
            <a:r>
              <a:t>PHASE 4: DISCRIMINATION PERFORMANCE</a:t>
            </a:r>
          </a:p>
        </p:txBody>
      </p:sp>
      <p:sp>
        <p:nvSpPr>
          <p:cNvPr id="5" name="TextBox 4"/>
          <p:cNvSpPr txBox="1"/>
          <p:nvPr/>
        </p:nvSpPr>
        <p:spPr>
          <a:xfrm>
            <a:off x="731520" y="685800"/>
            <a:ext cx="10698480" cy="640080"/>
          </a:xfrm>
          <a:prstGeom prst="rect">
            <a:avLst/>
          </a:prstGeom>
          <a:noFill/>
        </p:spPr>
        <p:txBody>
          <a:bodyPr wrap="square">
            <a:spAutoFit/>
          </a:bodyPr>
          <a:lstStyle/>
          <a:p>
            <a:pPr>
              <a:defRPr sz="2400" b="1">
                <a:solidFill>
                  <a:srgbClr val="FFFFFF"/>
                </a:solidFill>
              </a:defRPr>
            </a:pPr>
            <a:r>
              <a:t>ROC-AUC &amp; Precision-Recall Diagnostic Curves</a:t>
            </a:r>
          </a:p>
        </p:txBody>
      </p:sp>
      <p:sp>
        <p:nvSpPr>
          <p:cNvPr id="6" name="Rounded Rectangle 5"/>
          <p:cNvSpPr/>
          <p:nvPr/>
        </p:nvSpPr>
        <p:spPr>
          <a:xfrm>
            <a:off x="731520" y="1463040"/>
            <a:ext cx="731520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combined_roc_pr_curves.png"/>
          <p:cNvPicPr>
            <a:picLocks noChangeAspect="1"/>
          </p:cNvPicPr>
          <p:nvPr/>
        </p:nvPicPr>
        <p:blipFill>
          <a:blip r:embed="rId2"/>
          <a:stretch>
            <a:fillRect/>
          </a:stretch>
        </p:blipFill>
        <p:spPr>
          <a:xfrm>
            <a:off x="914400" y="1645920"/>
            <a:ext cx="6949440" cy="4389120"/>
          </a:xfrm>
          <a:prstGeom prst="rect">
            <a:avLst/>
          </a:prstGeom>
        </p:spPr>
      </p:pic>
      <p:sp>
        <p:nvSpPr>
          <p:cNvPr id="8" name="Rounded Rectangle 7"/>
          <p:cNvSpPr/>
          <p:nvPr/>
        </p:nvSpPr>
        <p:spPr>
          <a:xfrm>
            <a:off x="8321040" y="1463040"/>
            <a:ext cx="310896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03920" y="1645920"/>
            <a:ext cx="2743200" cy="457200"/>
          </a:xfrm>
          <a:prstGeom prst="rect">
            <a:avLst/>
          </a:prstGeom>
          <a:noFill/>
        </p:spPr>
        <p:txBody>
          <a:bodyPr wrap="none">
            <a:spAutoFit/>
          </a:bodyPr>
          <a:lstStyle/>
          <a:p>
            <a:pPr>
              <a:defRPr sz="1600" b="1">
                <a:solidFill>
                  <a:srgbClr val="0EA5E9"/>
                </a:solidFill>
              </a:defRPr>
            </a:pPr>
            <a:r>
              <a:t>Discrimination Power</a:t>
            </a:r>
          </a:p>
        </p:txBody>
      </p:sp>
      <p:sp>
        <p:nvSpPr>
          <p:cNvPr id="10" name="TextBox 9"/>
          <p:cNvSpPr txBox="1"/>
          <p:nvPr/>
        </p:nvSpPr>
        <p:spPr>
          <a:xfrm>
            <a:off x="8503920" y="2194560"/>
            <a:ext cx="2743200" cy="3840480"/>
          </a:xfrm>
          <a:prstGeom prst="rect">
            <a:avLst/>
          </a:prstGeom>
          <a:noFill/>
        </p:spPr>
        <p:txBody>
          <a:bodyPr wrap="square" tIns="91440">
            <a:spAutoFit/>
          </a:bodyPr>
          <a:lstStyle/>
          <a:p>
            <a:pPr>
              <a:spcAft>
                <a:spcPts val="1400"/>
              </a:spcAft>
            </a:pPr>
            <a:r>
              <a:rPr b="1" sz="1100">
                <a:solidFill>
                  <a:srgbClr val="0EA5E9"/>
                </a:solidFill>
              </a:rPr>
              <a:t>ROC-AUC ~ 1.000: </a:t>
            </a:r>
            <a:r>
              <a:rPr sz="1100">
                <a:solidFill>
                  <a:srgbClr val="FFFFFF"/>
                </a:solidFill>
              </a:rPr>
              <a:t>Decision Tree, Random Forest, and XGBoost reach near-perfect Area Under the ROC Curve.</a:t>
            </a:r>
          </a:p>
          <a:p>
            <a:pPr>
              <a:spcAft>
                <a:spcPts val="1400"/>
              </a:spcAft>
            </a:pPr>
            <a:r>
              <a:rPr b="1" sz="1100">
                <a:solidFill>
                  <a:srgbClr val="0EA5E9"/>
                </a:solidFill>
              </a:rPr>
              <a:t>Precision-Recall AP ~ 1.0: </a:t>
            </a:r>
            <a:r>
              <a:rPr sz="1100">
                <a:solidFill>
                  <a:srgbClr val="FFFFFF"/>
                </a:solidFill>
              </a:rPr>
              <a:t>Average Precision remains at 1.000, confirming zero precision degradation under real traffic ratios.</a:t>
            </a:r>
          </a:p>
          <a:p>
            <a:pPr>
              <a:spcAft>
                <a:spcPts val="1400"/>
              </a:spcAft>
            </a:pPr>
            <a:r>
              <a:rPr b="1" sz="1100">
                <a:solidFill>
                  <a:srgbClr val="0EA5E9"/>
                </a:solidFill>
              </a:rPr>
              <a:t>Threshold Stability: </a:t>
            </a:r>
            <a:r>
              <a:rPr sz="1100">
                <a:solidFill>
                  <a:srgbClr val="FFFFFF"/>
                </a:solidFill>
              </a:rPr>
              <a:t>High separation margins allow operators to tune detection thresholds without destabilizing FPR.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228600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9144000" cy="274320"/>
          </a:xfrm>
          <a:prstGeom prst="rect">
            <a:avLst/>
          </a:prstGeom>
          <a:noFill/>
        </p:spPr>
        <p:txBody>
          <a:bodyPr wrap="square">
            <a:spAutoFit/>
          </a:bodyPr>
          <a:lstStyle/>
          <a:p>
            <a:pPr>
              <a:defRPr sz="1000" b="1">
                <a:solidFill>
                  <a:srgbClr val="0EA5E9"/>
                </a:solidFill>
              </a:defRPr>
            </a:pPr>
            <a:r>
              <a:t>MODEL VALIDATION &amp; GENERALIZATION</a:t>
            </a:r>
          </a:p>
        </p:txBody>
      </p:sp>
      <p:sp>
        <p:nvSpPr>
          <p:cNvPr id="5" name="TextBox 4"/>
          <p:cNvSpPr txBox="1"/>
          <p:nvPr/>
        </p:nvSpPr>
        <p:spPr>
          <a:xfrm>
            <a:off x="731520" y="685800"/>
            <a:ext cx="10698480" cy="640080"/>
          </a:xfrm>
          <a:prstGeom prst="rect">
            <a:avLst/>
          </a:prstGeom>
          <a:noFill/>
        </p:spPr>
        <p:txBody>
          <a:bodyPr wrap="square">
            <a:spAutoFit/>
          </a:bodyPr>
          <a:lstStyle/>
          <a:p>
            <a:pPr>
              <a:defRPr sz="2400" b="1">
                <a:solidFill>
                  <a:srgbClr val="FFFFFF"/>
                </a:solidFill>
              </a:defRPr>
            </a:pPr>
            <a:r>
              <a:t>Overfitting Analysis: Train vs. Unseen Test Gap</a:t>
            </a:r>
          </a:p>
        </p:txBody>
      </p:sp>
      <p:graphicFrame>
        <p:nvGraphicFramePr>
          <p:cNvPr id="6" name="Table 5"/>
          <p:cNvGraphicFramePr>
            <a:graphicFrameLocks noGrp="1"/>
          </p:cNvGraphicFramePr>
          <p:nvPr/>
        </p:nvGraphicFramePr>
        <p:xfrm>
          <a:off x="731520" y="1463040"/>
          <a:ext cx="10698480" cy="2377440"/>
        </p:xfrm>
        <a:graphic>
          <a:graphicData uri="http://schemas.openxmlformats.org/drawingml/2006/table">
            <a:tbl>
              <a:tblPr firstRow="1" bandRow="1">
                <a:tableStyleId>{5C22544A-7EE6-4342-B048-85BDC9FD1C3A}</a:tableStyleId>
              </a:tblPr>
              <a:tblGrid>
                <a:gridCol w="1920240"/>
                <a:gridCol w="1097280"/>
                <a:gridCol w="1097280"/>
                <a:gridCol w="1097280"/>
                <a:gridCol w="1097280"/>
                <a:gridCol w="1097280"/>
                <a:gridCol w="1097280"/>
                <a:gridCol w="2194560"/>
              </a:tblGrid>
              <a:tr h="396240">
                <a:tc>
                  <a:txBody>
                    <a:bodyPr/>
                    <a:lstStyle/>
                    <a:p>
                      <a:pPr algn="ctr">
                        <a:defRPr b="1" sz="1100">
                          <a:solidFill>
                            <a:srgbClr val="0F172A"/>
                          </a:solidFill>
                        </a:defRPr>
                      </a:pPr>
                      <a:r>
                        <a:t>Model</a:t>
                      </a:r>
                    </a:p>
                  </a:txBody>
                  <a:tcPr anchor="ctr">
                    <a:solidFill>
                      <a:srgbClr val="0EA5E9"/>
                    </a:solidFill>
                  </a:tcPr>
                </a:tc>
                <a:tc>
                  <a:txBody>
                    <a:bodyPr/>
                    <a:lstStyle/>
                    <a:p>
                      <a:pPr algn="ctr">
                        <a:defRPr b="1" sz="1100">
                          <a:solidFill>
                            <a:srgbClr val="0F172A"/>
                          </a:solidFill>
                        </a:defRPr>
                      </a:pPr>
                      <a:r>
                        <a:t>Train Acc</a:t>
                      </a:r>
                    </a:p>
                  </a:txBody>
                  <a:tcPr anchor="ctr">
                    <a:solidFill>
                      <a:srgbClr val="0EA5E9"/>
                    </a:solidFill>
                  </a:tcPr>
                </a:tc>
                <a:tc>
                  <a:txBody>
                    <a:bodyPr/>
                    <a:lstStyle/>
                    <a:p>
                      <a:pPr algn="ctr">
                        <a:defRPr b="1" sz="1100">
                          <a:solidFill>
                            <a:srgbClr val="0F172A"/>
                          </a:solidFill>
                        </a:defRPr>
                      </a:pPr>
                      <a:r>
                        <a:t>Test Acc</a:t>
                      </a:r>
                    </a:p>
                  </a:txBody>
                  <a:tcPr anchor="ctr">
                    <a:solidFill>
                      <a:srgbClr val="0EA5E9"/>
                    </a:solidFill>
                  </a:tcPr>
                </a:tc>
                <a:tc>
                  <a:txBody>
                    <a:bodyPr/>
                    <a:lstStyle/>
                    <a:p>
                      <a:pPr algn="ctr">
                        <a:defRPr b="1" sz="1100">
                          <a:solidFill>
                            <a:srgbClr val="0F172A"/>
                          </a:solidFill>
                        </a:defRPr>
                      </a:pPr>
                      <a:r>
                        <a:t>Acc Delta</a:t>
                      </a:r>
                    </a:p>
                  </a:txBody>
                  <a:tcPr anchor="ctr">
                    <a:solidFill>
                      <a:srgbClr val="0EA5E9"/>
                    </a:solidFill>
                  </a:tcPr>
                </a:tc>
                <a:tc>
                  <a:txBody>
                    <a:bodyPr/>
                    <a:lstStyle/>
                    <a:p>
                      <a:pPr algn="ctr">
                        <a:defRPr b="1" sz="1100">
                          <a:solidFill>
                            <a:srgbClr val="0F172A"/>
                          </a:solidFill>
                        </a:defRPr>
                      </a:pPr>
                      <a:r>
                        <a:t>Train F1</a:t>
                      </a:r>
                    </a:p>
                  </a:txBody>
                  <a:tcPr anchor="ctr">
                    <a:solidFill>
                      <a:srgbClr val="0EA5E9"/>
                    </a:solidFill>
                  </a:tcPr>
                </a:tc>
                <a:tc>
                  <a:txBody>
                    <a:bodyPr/>
                    <a:lstStyle/>
                    <a:p>
                      <a:pPr algn="ctr">
                        <a:defRPr b="1" sz="1100">
                          <a:solidFill>
                            <a:srgbClr val="0F172A"/>
                          </a:solidFill>
                        </a:defRPr>
                      </a:pPr>
                      <a:r>
                        <a:t>Test F1</a:t>
                      </a:r>
                    </a:p>
                  </a:txBody>
                  <a:tcPr anchor="ctr">
                    <a:solidFill>
                      <a:srgbClr val="0EA5E9"/>
                    </a:solidFill>
                  </a:tcPr>
                </a:tc>
                <a:tc>
                  <a:txBody>
                    <a:bodyPr/>
                    <a:lstStyle/>
                    <a:p>
                      <a:pPr algn="ctr">
                        <a:defRPr b="1" sz="1100">
                          <a:solidFill>
                            <a:srgbClr val="0F172A"/>
                          </a:solidFill>
                        </a:defRPr>
                      </a:pPr>
                      <a:r>
                        <a:t>F1 Delta</a:t>
                      </a:r>
                    </a:p>
                  </a:txBody>
                  <a:tcPr anchor="ctr">
                    <a:solidFill>
                      <a:srgbClr val="0EA5E9"/>
                    </a:solidFill>
                  </a:tcPr>
                </a:tc>
                <a:tc>
                  <a:txBody>
                    <a:bodyPr/>
                    <a:lstStyle/>
                    <a:p>
                      <a:pPr algn="ctr">
                        <a:defRPr b="1" sz="1100">
                          <a:solidFill>
                            <a:srgbClr val="0F172A"/>
                          </a:solidFill>
                        </a:defRPr>
                      </a:pPr>
                      <a:r>
                        <a:t>Overfitting Status</a:t>
                      </a:r>
                    </a:p>
                  </a:txBody>
                  <a:tcPr anchor="ctr">
                    <a:solidFill>
                      <a:srgbClr val="0EA5E9"/>
                    </a:solidFill>
                  </a:tcPr>
                </a:tc>
              </a:tr>
              <a:tr h="396240">
                <a:tc>
                  <a:txBody>
                    <a:bodyPr/>
                    <a:lstStyle/>
                    <a:p>
                      <a:pPr algn="l">
                        <a:defRPr sz="1000" b="1">
                          <a:solidFill>
                            <a:srgbClr val="FFFFFF"/>
                          </a:solidFill>
                        </a:defRPr>
                      </a:pPr>
                      <a:r>
                        <a:t>Decision Tree</a:t>
                      </a:r>
                    </a:p>
                  </a:txBody>
                  <a:tcPr anchor="ctr">
                    <a:solidFill>
                      <a:srgbClr val="1E293B"/>
                    </a:solidFill>
                  </a:tcPr>
                </a:tc>
                <a:tc>
                  <a:txBody>
                    <a:bodyPr/>
                    <a:lstStyle/>
                    <a:p>
                      <a:pPr algn="ctr">
                        <a:defRPr sz="1000">
                          <a:solidFill>
                            <a:srgbClr val="FFFFFF"/>
                          </a:solidFill>
                        </a:defRPr>
                      </a:pPr>
                      <a:r>
                        <a:t>99.992%</a:t>
                      </a:r>
                    </a:p>
                  </a:txBody>
                  <a:tcPr anchor="ctr">
                    <a:solidFill>
                      <a:srgbClr val="1E293B"/>
                    </a:solidFill>
                  </a:tcPr>
                </a:tc>
                <a:tc>
                  <a:txBody>
                    <a:bodyPr/>
                    <a:lstStyle/>
                    <a:p>
                      <a:pPr algn="ctr">
                        <a:defRPr sz="1000">
                          <a:solidFill>
                            <a:srgbClr val="FFFFFF"/>
                          </a:solidFill>
                        </a:defRPr>
                      </a:pPr>
                      <a:r>
                        <a:t>99.990%</a:t>
                      </a:r>
                    </a:p>
                  </a:txBody>
                  <a:tcPr anchor="ctr">
                    <a:solidFill>
                      <a:srgbClr val="1E293B"/>
                    </a:solidFill>
                  </a:tcPr>
                </a:tc>
                <a:tc>
                  <a:txBody>
                    <a:bodyPr/>
                    <a:lstStyle/>
                    <a:p>
                      <a:pPr algn="ctr">
                        <a:defRPr sz="1000">
                          <a:solidFill>
                            <a:srgbClr val="FFFFFF"/>
                          </a:solidFill>
                        </a:defRPr>
                      </a:pPr>
                      <a:r>
                        <a:t>+0.0016%</a:t>
                      </a:r>
                    </a:p>
                  </a:txBody>
                  <a:tcPr anchor="ctr">
                    <a:solidFill>
                      <a:srgbClr val="1E293B"/>
                    </a:solidFill>
                  </a:tcPr>
                </a:tc>
                <a:tc>
                  <a:txBody>
                    <a:bodyPr/>
                    <a:lstStyle/>
                    <a:p>
                      <a:pPr algn="ctr">
                        <a:defRPr sz="1000">
                          <a:solidFill>
                            <a:srgbClr val="FFFFFF"/>
                          </a:solidFill>
                        </a:defRPr>
                      </a:pPr>
                      <a:r>
                        <a:t>99.995%</a:t>
                      </a:r>
                    </a:p>
                  </a:txBody>
                  <a:tcPr anchor="ctr">
                    <a:solidFill>
                      <a:srgbClr val="1E293B"/>
                    </a:solidFill>
                  </a:tcPr>
                </a:tc>
                <a:tc>
                  <a:txBody>
                    <a:bodyPr/>
                    <a:lstStyle/>
                    <a:p>
                      <a:pPr algn="ctr">
                        <a:defRPr sz="1000">
                          <a:solidFill>
                            <a:srgbClr val="FFFFFF"/>
                          </a:solidFill>
                        </a:defRPr>
                      </a:pPr>
                      <a:r>
                        <a:t>99.993%</a:t>
                      </a:r>
                    </a:p>
                  </a:txBody>
                  <a:tcPr anchor="ctr">
                    <a:solidFill>
                      <a:srgbClr val="1E293B"/>
                    </a:solidFill>
                  </a:tcPr>
                </a:tc>
                <a:tc>
                  <a:txBody>
                    <a:bodyPr/>
                    <a:lstStyle/>
                    <a:p>
                      <a:pPr algn="ctr">
                        <a:defRPr sz="1000">
                          <a:solidFill>
                            <a:srgbClr val="FFFFFF"/>
                          </a:solidFill>
                        </a:defRPr>
                      </a:pPr>
                      <a:r>
                        <a:t>+0.0011%</a:t>
                      </a:r>
                    </a:p>
                  </a:txBody>
                  <a:tcPr anchor="ctr">
                    <a:solidFill>
                      <a:srgbClr val="1E293B"/>
                    </a:solidFill>
                  </a:tcPr>
                </a:tc>
                <a:tc>
                  <a:txBody>
                    <a:bodyPr/>
                    <a:lstStyle/>
                    <a:p>
                      <a:pPr algn="ctr">
                        <a:defRPr sz="1000">
                          <a:solidFill>
                            <a:srgbClr val="FFFFFF"/>
                          </a:solidFill>
                        </a:defRPr>
                      </a:pPr>
                      <a:r>
                        <a:t>Optimal Fit (No Overfitting)</a:t>
                      </a:r>
                    </a:p>
                  </a:txBody>
                  <a:tcPr anchor="ctr">
                    <a:solidFill>
                      <a:srgbClr val="1E293B"/>
                    </a:solidFill>
                  </a:tcPr>
                </a:tc>
              </a:tr>
              <a:tr h="396240">
                <a:tc>
                  <a:txBody>
                    <a:bodyPr/>
                    <a:lstStyle/>
                    <a:p>
                      <a:pPr algn="l">
                        <a:defRPr sz="1000" b="1">
                          <a:solidFill>
                            <a:srgbClr val="FFFFFF"/>
                          </a:solidFill>
                        </a:defRPr>
                      </a:pPr>
                      <a:r>
                        <a:t>Random Forest</a:t>
                      </a:r>
                    </a:p>
                  </a:txBody>
                  <a:tcPr anchor="ctr">
                    <a:solidFill>
                      <a:srgbClr val="29364C"/>
                    </a:solidFill>
                  </a:tcPr>
                </a:tc>
                <a:tc>
                  <a:txBody>
                    <a:bodyPr/>
                    <a:lstStyle/>
                    <a:p>
                      <a:pPr algn="ctr">
                        <a:defRPr sz="1000">
                          <a:solidFill>
                            <a:srgbClr val="FFFFFF"/>
                          </a:solidFill>
                        </a:defRPr>
                      </a:pPr>
                      <a:r>
                        <a:t>100.00%</a:t>
                      </a:r>
                    </a:p>
                  </a:txBody>
                  <a:tcPr anchor="ctr">
                    <a:solidFill>
                      <a:srgbClr val="29364C"/>
                    </a:solidFill>
                  </a:tcPr>
                </a:tc>
                <a:tc>
                  <a:txBody>
                    <a:bodyPr/>
                    <a:lstStyle/>
                    <a:p>
                      <a:pPr algn="ctr">
                        <a:defRPr sz="1000">
                          <a:solidFill>
                            <a:srgbClr val="FFFFFF"/>
                          </a:solidFill>
                        </a:defRPr>
                      </a:pPr>
                      <a:r>
                        <a:t>99.990%</a:t>
                      </a:r>
                    </a:p>
                  </a:txBody>
                  <a:tcPr anchor="ctr">
                    <a:solidFill>
                      <a:srgbClr val="29364C"/>
                    </a:solidFill>
                  </a:tcPr>
                </a:tc>
                <a:tc>
                  <a:txBody>
                    <a:bodyPr/>
                    <a:lstStyle/>
                    <a:p>
                      <a:pPr algn="ctr">
                        <a:defRPr sz="1000">
                          <a:solidFill>
                            <a:srgbClr val="FFFFFF"/>
                          </a:solidFill>
                        </a:defRPr>
                      </a:pPr>
                      <a:r>
                        <a:t>+0.0096%</a:t>
                      </a:r>
                    </a:p>
                  </a:txBody>
                  <a:tcPr anchor="ctr">
                    <a:solidFill>
                      <a:srgbClr val="29364C"/>
                    </a:solidFill>
                  </a:tcPr>
                </a:tc>
                <a:tc>
                  <a:txBody>
                    <a:bodyPr/>
                    <a:lstStyle/>
                    <a:p>
                      <a:pPr algn="ctr">
                        <a:defRPr sz="1000">
                          <a:solidFill>
                            <a:srgbClr val="FFFFFF"/>
                          </a:solidFill>
                        </a:defRPr>
                      </a:pPr>
                      <a:r>
                        <a:t>100.00%</a:t>
                      </a:r>
                    </a:p>
                  </a:txBody>
                  <a:tcPr anchor="ctr">
                    <a:solidFill>
                      <a:srgbClr val="29364C"/>
                    </a:solidFill>
                  </a:tcPr>
                </a:tc>
                <a:tc>
                  <a:txBody>
                    <a:bodyPr/>
                    <a:lstStyle/>
                    <a:p>
                      <a:pPr algn="ctr">
                        <a:defRPr sz="1000">
                          <a:solidFill>
                            <a:srgbClr val="FFFFFF"/>
                          </a:solidFill>
                        </a:defRPr>
                      </a:pPr>
                      <a:r>
                        <a:t>99.993%</a:t>
                      </a:r>
                    </a:p>
                  </a:txBody>
                  <a:tcPr anchor="ctr">
                    <a:solidFill>
                      <a:srgbClr val="29364C"/>
                    </a:solidFill>
                  </a:tcPr>
                </a:tc>
                <a:tc>
                  <a:txBody>
                    <a:bodyPr/>
                    <a:lstStyle/>
                    <a:p>
                      <a:pPr algn="ctr">
                        <a:defRPr sz="1000">
                          <a:solidFill>
                            <a:srgbClr val="FFFFFF"/>
                          </a:solidFill>
                        </a:defRPr>
                      </a:pPr>
                      <a:r>
                        <a:t>+0.0066%</a:t>
                      </a:r>
                    </a:p>
                  </a:txBody>
                  <a:tcPr anchor="ctr">
                    <a:solidFill>
                      <a:srgbClr val="29364C"/>
                    </a:solidFill>
                  </a:tcPr>
                </a:tc>
                <a:tc>
                  <a:txBody>
                    <a:bodyPr/>
                    <a:lstStyle/>
                    <a:p>
                      <a:pPr algn="ctr">
                        <a:defRPr sz="1000">
                          <a:solidFill>
                            <a:srgbClr val="FFFFFF"/>
                          </a:solidFill>
                        </a:defRPr>
                      </a:pPr>
                      <a:r>
                        <a:t>Optimal Fit (No Overfitting)</a:t>
                      </a:r>
                    </a:p>
                  </a:txBody>
                  <a:tcPr anchor="ctr">
                    <a:solidFill>
                      <a:srgbClr val="29364C"/>
                    </a:solidFill>
                  </a:tcPr>
                </a:tc>
              </a:tr>
              <a:tr h="396240">
                <a:tc>
                  <a:txBody>
                    <a:bodyPr/>
                    <a:lstStyle/>
                    <a:p>
                      <a:pPr algn="l">
                        <a:defRPr sz="1000" b="1">
                          <a:solidFill>
                            <a:srgbClr val="FFFFFF"/>
                          </a:solidFill>
                        </a:defRPr>
                      </a:pPr>
                      <a:r>
                        <a:t>XGBoost</a:t>
                      </a:r>
                    </a:p>
                  </a:txBody>
                  <a:tcPr anchor="ctr">
                    <a:solidFill>
                      <a:srgbClr val="1E293B"/>
                    </a:solidFill>
                  </a:tcPr>
                </a:tc>
                <a:tc>
                  <a:txBody>
                    <a:bodyPr/>
                    <a:lstStyle/>
                    <a:p>
                      <a:pPr algn="ctr">
                        <a:defRPr sz="1000">
                          <a:solidFill>
                            <a:srgbClr val="FFFFFF"/>
                          </a:solidFill>
                        </a:defRPr>
                      </a:pPr>
                      <a:r>
                        <a:t>99.998%</a:t>
                      </a:r>
                    </a:p>
                  </a:txBody>
                  <a:tcPr anchor="ctr">
                    <a:solidFill>
                      <a:srgbClr val="1E293B"/>
                    </a:solidFill>
                  </a:tcPr>
                </a:tc>
                <a:tc>
                  <a:txBody>
                    <a:bodyPr/>
                    <a:lstStyle/>
                    <a:p>
                      <a:pPr algn="ctr">
                        <a:defRPr sz="1000">
                          <a:solidFill>
                            <a:srgbClr val="FFFFFF"/>
                          </a:solidFill>
                        </a:defRPr>
                      </a:pPr>
                      <a:r>
                        <a:t>99.990%</a:t>
                      </a:r>
                    </a:p>
                  </a:txBody>
                  <a:tcPr anchor="ctr">
                    <a:solidFill>
                      <a:srgbClr val="1E293B"/>
                    </a:solidFill>
                  </a:tcPr>
                </a:tc>
                <a:tc>
                  <a:txBody>
                    <a:bodyPr/>
                    <a:lstStyle/>
                    <a:p>
                      <a:pPr algn="ctr">
                        <a:defRPr sz="1000">
                          <a:solidFill>
                            <a:srgbClr val="FFFFFF"/>
                          </a:solidFill>
                        </a:defRPr>
                      </a:pPr>
                      <a:r>
                        <a:t>+0.0076%</a:t>
                      </a:r>
                    </a:p>
                  </a:txBody>
                  <a:tcPr anchor="ctr">
                    <a:solidFill>
                      <a:srgbClr val="1E293B"/>
                    </a:solidFill>
                  </a:tcPr>
                </a:tc>
                <a:tc>
                  <a:txBody>
                    <a:bodyPr/>
                    <a:lstStyle/>
                    <a:p>
                      <a:pPr algn="ctr">
                        <a:defRPr sz="1000">
                          <a:solidFill>
                            <a:srgbClr val="FFFFFF"/>
                          </a:solidFill>
                        </a:defRPr>
                      </a:pPr>
                      <a:r>
                        <a:t>99.999%</a:t>
                      </a:r>
                    </a:p>
                  </a:txBody>
                  <a:tcPr anchor="ctr">
                    <a:solidFill>
                      <a:srgbClr val="1E293B"/>
                    </a:solidFill>
                  </a:tcPr>
                </a:tc>
                <a:tc>
                  <a:txBody>
                    <a:bodyPr/>
                    <a:lstStyle/>
                    <a:p>
                      <a:pPr algn="ctr">
                        <a:defRPr sz="1000">
                          <a:solidFill>
                            <a:srgbClr val="FFFFFF"/>
                          </a:solidFill>
                        </a:defRPr>
                      </a:pPr>
                      <a:r>
                        <a:t>99.993%</a:t>
                      </a:r>
                    </a:p>
                  </a:txBody>
                  <a:tcPr anchor="ctr">
                    <a:solidFill>
                      <a:srgbClr val="1E293B"/>
                    </a:solidFill>
                  </a:tcPr>
                </a:tc>
                <a:tc>
                  <a:txBody>
                    <a:bodyPr/>
                    <a:lstStyle/>
                    <a:p>
                      <a:pPr algn="ctr">
                        <a:defRPr sz="1000">
                          <a:solidFill>
                            <a:srgbClr val="FFFFFF"/>
                          </a:solidFill>
                        </a:defRPr>
                      </a:pPr>
                      <a:r>
                        <a:t>+0.0052%</a:t>
                      </a:r>
                    </a:p>
                  </a:txBody>
                  <a:tcPr anchor="ctr">
                    <a:solidFill>
                      <a:srgbClr val="1E293B"/>
                    </a:solidFill>
                  </a:tcPr>
                </a:tc>
                <a:tc>
                  <a:txBody>
                    <a:bodyPr/>
                    <a:lstStyle/>
                    <a:p>
                      <a:pPr algn="ctr">
                        <a:defRPr sz="1000">
                          <a:solidFill>
                            <a:srgbClr val="FFFFFF"/>
                          </a:solidFill>
                        </a:defRPr>
                      </a:pPr>
                      <a:r>
                        <a:t>Optimal Fit (No Overfitting)</a:t>
                      </a:r>
                    </a:p>
                  </a:txBody>
                  <a:tcPr anchor="ctr">
                    <a:solidFill>
                      <a:srgbClr val="1E293B"/>
                    </a:solidFill>
                  </a:tcPr>
                </a:tc>
              </a:tr>
              <a:tr h="396240">
                <a:tc>
                  <a:txBody>
                    <a:bodyPr/>
                    <a:lstStyle/>
                    <a:p>
                      <a:pPr algn="l">
                        <a:defRPr sz="1000" b="1">
                          <a:solidFill>
                            <a:srgbClr val="FFFFFF"/>
                          </a:solidFill>
                        </a:defRPr>
                      </a:pPr>
                      <a:r>
                        <a:t>LSTM (Neural)</a:t>
                      </a:r>
                    </a:p>
                  </a:txBody>
                  <a:tcPr anchor="ctr">
                    <a:solidFill>
                      <a:srgbClr val="29364C"/>
                    </a:solidFill>
                  </a:tcPr>
                </a:tc>
                <a:tc>
                  <a:txBody>
                    <a:bodyPr/>
                    <a:lstStyle/>
                    <a:p>
                      <a:pPr algn="ctr">
                        <a:defRPr sz="1000">
                          <a:solidFill>
                            <a:srgbClr val="FFFFFF"/>
                          </a:solidFill>
                        </a:defRPr>
                      </a:pPr>
                      <a:r>
                        <a:t>99.486%</a:t>
                      </a:r>
                    </a:p>
                  </a:txBody>
                  <a:tcPr anchor="ctr">
                    <a:solidFill>
                      <a:srgbClr val="29364C"/>
                    </a:solidFill>
                  </a:tcPr>
                </a:tc>
                <a:tc>
                  <a:txBody>
                    <a:bodyPr/>
                    <a:lstStyle/>
                    <a:p>
                      <a:pPr algn="ctr">
                        <a:defRPr sz="1000">
                          <a:solidFill>
                            <a:srgbClr val="FFFFFF"/>
                          </a:solidFill>
                        </a:defRPr>
                      </a:pPr>
                      <a:r>
                        <a:t>99.875%</a:t>
                      </a:r>
                    </a:p>
                  </a:txBody>
                  <a:tcPr anchor="ctr">
                    <a:solidFill>
                      <a:srgbClr val="29364C"/>
                    </a:solidFill>
                  </a:tcPr>
                </a:tc>
                <a:tc>
                  <a:txBody>
                    <a:bodyPr/>
                    <a:lstStyle/>
                    <a:p>
                      <a:pPr algn="ctr">
                        <a:defRPr sz="1000">
                          <a:solidFill>
                            <a:srgbClr val="FFFFFF"/>
                          </a:solidFill>
                        </a:defRPr>
                      </a:pPr>
                      <a:r>
                        <a:t>-0.3887%</a:t>
                      </a:r>
                    </a:p>
                  </a:txBody>
                  <a:tcPr anchor="ctr">
                    <a:solidFill>
                      <a:srgbClr val="29364C"/>
                    </a:solidFill>
                  </a:tcPr>
                </a:tc>
                <a:tc>
                  <a:txBody>
                    <a:bodyPr/>
                    <a:lstStyle/>
                    <a:p>
                      <a:pPr algn="ctr">
                        <a:defRPr sz="1000">
                          <a:solidFill>
                            <a:srgbClr val="FFFFFF"/>
                          </a:solidFill>
                        </a:defRPr>
                      </a:pPr>
                      <a:r>
                        <a:t>99.647%</a:t>
                      </a:r>
                    </a:p>
                  </a:txBody>
                  <a:tcPr anchor="ctr">
                    <a:solidFill>
                      <a:srgbClr val="29364C"/>
                    </a:solidFill>
                  </a:tcPr>
                </a:tc>
                <a:tc>
                  <a:txBody>
                    <a:bodyPr/>
                    <a:lstStyle/>
                    <a:p>
                      <a:pPr algn="ctr">
                        <a:defRPr sz="1000">
                          <a:solidFill>
                            <a:srgbClr val="FFFFFF"/>
                          </a:solidFill>
                        </a:defRPr>
                      </a:pPr>
                      <a:r>
                        <a:t>99.914%</a:t>
                      </a:r>
                    </a:p>
                  </a:txBody>
                  <a:tcPr anchor="ctr">
                    <a:solidFill>
                      <a:srgbClr val="29364C"/>
                    </a:solidFill>
                  </a:tcPr>
                </a:tc>
                <a:tc>
                  <a:txBody>
                    <a:bodyPr/>
                    <a:lstStyle/>
                    <a:p>
                      <a:pPr algn="ctr">
                        <a:defRPr sz="1000">
                          <a:solidFill>
                            <a:srgbClr val="FFFFFF"/>
                          </a:solidFill>
                        </a:defRPr>
                      </a:pPr>
                      <a:r>
                        <a:t>-0.2674%</a:t>
                      </a:r>
                    </a:p>
                  </a:txBody>
                  <a:tcPr anchor="ctr">
                    <a:solidFill>
                      <a:srgbClr val="29364C"/>
                    </a:solidFill>
                  </a:tcPr>
                </a:tc>
                <a:tc>
                  <a:txBody>
                    <a:bodyPr/>
                    <a:lstStyle/>
                    <a:p>
                      <a:pPr algn="ctr">
                        <a:defRPr sz="1000">
                          <a:solidFill>
                            <a:srgbClr val="FFFFFF"/>
                          </a:solidFill>
                        </a:defRPr>
                      </a:pPr>
                      <a:r>
                        <a:t>Optimal Fit (No Overfitting)</a:t>
                      </a:r>
                    </a:p>
                  </a:txBody>
                  <a:tcPr anchor="ctr">
                    <a:solidFill>
                      <a:srgbClr val="29364C"/>
                    </a:solidFill>
                  </a:tcPr>
                </a:tc>
              </a:tr>
              <a:tr h="396240">
                <a:tc>
                  <a:txBody>
                    <a:bodyPr/>
                    <a:lstStyle/>
                    <a:p>
                      <a:pPr algn="l">
                        <a:defRPr sz="1000" b="1">
                          <a:solidFill>
                            <a:srgbClr val="FFFFFF"/>
                          </a:solidFill>
                        </a:defRPr>
                      </a:pPr>
                      <a:r>
                        <a:t>Logistic Regression</a:t>
                      </a:r>
                    </a:p>
                  </a:txBody>
                  <a:tcPr anchor="ctr">
                    <a:solidFill>
                      <a:srgbClr val="1E293B"/>
                    </a:solidFill>
                  </a:tcPr>
                </a:tc>
                <a:tc>
                  <a:txBody>
                    <a:bodyPr/>
                    <a:lstStyle/>
                    <a:p>
                      <a:pPr algn="ctr">
                        <a:defRPr sz="1000">
                          <a:solidFill>
                            <a:srgbClr val="FFFFFF"/>
                          </a:solidFill>
                        </a:defRPr>
                      </a:pPr>
                      <a:r>
                        <a:t>98.852%</a:t>
                      </a:r>
                    </a:p>
                  </a:txBody>
                  <a:tcPr anchor="ctr">
                    <a:solidFill>
                      <a:srgbClr val="1E293B"/>
                    </a:solidFill>
                  </a:tcPr>
                </a:tc>
                <a:tc>
                  <a:txBody>
                    <a:bodyPr/>
                    <a:lstStyle/>
                    <a:p>
                      <a:pPr algn="ctr">
                        <a:defRPr sz="1000">
                          <a:solidFill>
                            <a:srgbClr val="FFFFFF"/>
                          </a:solidFill>
                        </a:defRPr>
                      </a:pPr>
                      <a:r>
                        <a:t>98.904%</a:t>
                      </a:r>
                    </a:p>
                  </a:txBody>
                  <a:tcPr anchor="ctr">
                    <a:solidFill>
                      <a:srgbClr val="1E293B"/>
                    </a:solidFill>
                  </a:tcPr>
                </a:tc>
                <a:tc>
                  <a:txBody>
                    <a:bodyPr/>
                    <a:lstStyle/>
                    <a:p>
                      <a:pPr algn="ctr">
                        <a:defRPr sz="1000">
                          <a:solidFill>
                            <a:srgbClr val="FFFFFF"/>
                          </a:solidFill>
                        </a:defRPr>
                      </a:pPr>
                      <a:r>
                        <a:t>-0.0522%</a:t>
                      </a:r>
                    </a:p>
                  </a:txBody>
                  <a:tcPr anchor="ctr">
                    <a:solidFill>
                      <a:srgbClr val="1E293B"/>
                    </a:solidFill>
                  </a:tcPr>
                </a:tc>
                <a:tc>
                  <a:txBody>
                    <a:bodyPr/>
                    <a:lstStyle/>
                    <a:p>
                      <a:pPr algn="ctr">
                        <a:defRPr sz="1000">
                          <a:solidFill>
                            <a:srgbClr val="FFFFFF"/>
                          </a:solidFill>
                        </a:defRPr>
                      </a:pPr>
                      <a:r>
                        <a:t>99.211%</a:t>
                      </a:r>
                    </a:p>
                  </a:txBody>
                  <a:tcPr anchor="ctr">
                    <a:solidFill>
                      <a:srgbClr val="1E293B"/>
                    </a:solidFill>
                  </a:tcPr>
                </a:tc>
                <a:tc>
                  <a:txBody>
                    <a:bodyPr/>
                    <a:lstStyle/>
                    <a:p>
                      <a:pPr algn="ctr">
                        <a:defRPr sz="1000">
                          <a:solidFill>
                            <a:srgbClr val="FFFFFF"/>
                          </a:solidFill>
                        </a:defRPr>
                      </a:pPr>
                      <a:r>
                        <a:t>99.247%</a:t>
                      </a:r>
                    </a:p>
                  </a:txBody>
                  <a:tcPr anchor="ctr">
                    <a:solidFill>
                      <a:srgbClr val="1E293B"/>
                    </a:solidFill>
                  </a:tcPr>
                </a:tc>
                <a:tc>
                  <a:txBody>
                    <a:bodyPr/>
                    <a:lstStyle/>
                    <a:p>
                      <a:pPr algn="ctr">
                        <a:defRPr sz="1000">
                          <a:solidFill>
                            <a:srgbClr val="FFFFFF"/>
                          </a:solidFill>
                        </a:defRPr>
                      </a:pPr>
                      <a:r>
                        <a:t>-0.0360%</a:t>
                      </a:r>
                    </a:p>
                  </a:txBody>
                  <a:tcPr anchor="ctr">
                    <a:solidFill>
                      <a:srgbClr val="1E293B"/>
                    </a:solidFill>
                  </a:tcPr>
                </a:tc>
                <a:tc>
                  <a:txBody>
                    <a:bodyPr/>
                    <a:lstStyle/>
                    <a:p>
                      <a:pPr algn="ctr">
                        <a:defRPr sz="1000">
                          <a:solidFill>
                            <a:srgbClr val="FFFFFF"/>
                          </a:solidFill>
                        </a:defRPr>
                      </a:pPr>
                      <a:r>
                        <a:t>Optimal Fit (No Overfitting)</a:t>
                      </a:r>
                    </a:p>
                  </a:txBody>
                  <a:tcPr anchor="ctr">
                    <a:solidFill>
                      <a:srgbClr val="1E293B"/>
                    </a:solidFill>
                  </a:tcPr>
                </a:tc>
              </a:tr>
            </a:tbl>
          </a:graphicData>
        </a:graphic>
      </p:graphicFrame>
      <p:sp>
        <p:nvSpPr>
          <p:cNvPr id="7" name="Rounded Rectangle 6"/>
          <p:cNvSpPr/>
          <p:nvPr/>
        </p:nvSpPr>
        <p:spPr>
          <a:xfrm>
            <a:off x="731520" y="4023360"/>
            <a:ext cx="6400800" cy="2468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overfitting_train_vs_test.png"/>
          <p:cNvPicPr>
            <a:picLocks noChangeAspect="1"/>
          </p:cNvPicPr>
          <p:nvPr/>
        </p:nvPicPr>
        <p:blipFill>
          <a:blip r:embed="rId2"/>
          <a:stretch>
            <a:fillRect/>
          </a:stretch>
        </p:blipFill>
        <p:spPr>
          <a:xfrm>
            <a:off x="914400" y="4114800"/>
            <a:ext cx="6035040" cy="2286000"/>
          </a:xfrm>
          <a:prstGeom prst="rect">
            <a:avLst/>
          </a:prstGeom>
        </p:spPr>
      </p:pic>
      <p:sp>
        <p:nvSpPr>
          <p:cNvPr id="9" name="Rounded Rectangle 8"/>
          <p:cNvSpPr/>
          <p:nvPr/>
        </p:nvSpPr>
        <p:spPr>
          <a:xfrm>
            <a:off x="7406640" y="4023360"/>
            <a:ext cx="4023360" cy="2468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0" y="4114800"/>
            <a:ext cx="3657600" cy="365760"/>
          </a:xfrm>
          <a:prstGeom prst="rect">
            <a:avLst/>
          </a:prstGeom>
          <a:noFill/>
        </p:spPr>
        <p:txBody>
          <a:bodyPr wrap="none">
            <a:spAutoFit/>
          </a:bodyPr>
          <a:lstStyle/>
          <a:p>
            <a:pPr>
              <a:defRPr sz="1300" b="1">
                <a:solidFill>
                  <a:srgbClr val="F59E0B"/>
                </a:solidFill>
              </a:defRPr>
            </a:pPr>
            <a:r>
              <a:t>Blinded Zero-Day Test (NTP Held Out)</a:t>
            </a:r>
          </a:p>
        </p:txBody>
      </p:sp>
      <p:sp>
        <p:nvSpPr>
          <p:cNvPr id="11" name="TextBox 10"/>
          <p:cNvSpPr txBox="1"/>
          <p:nvPr/>
        </p:nvSpPr>
        <p:spPr>
          <a:xfrm>
            <a:off x="7589520" y="4572000"/>
            <a:ext cx="3657600" cy="1737360"/>
          </a:xfrm>
          <a:prstGeom prst="rect">
            <a:avLst/>
          </a:prstGeom>
          <a:noFill/>
        </p:spPr>
        <p:txBody>
          <a:bodyPr wrap="square" tIns="91440">
            <a:spAutoFit/>
          </a:bodyPr>
          <a:lstStyle/>
          <a:p>
            <a:pPr>
              <a:spcAft>
                <a:spcPts val="400"/>
              </a:spcAft>
            </a:pPr>
            <a:r>
              <a:rPr b="1" sz="1000">
                <a:solidFill>
                  <a:srgbClr val="0EA5E9"/>
                </a:solidFill>
              </a:rPr>
              <a:t>Decision Tree: </a:t>
            </a:r>
            <a:r>
              <a:rPr sz="1000">
                <a:solidFill>
                  <a:srgbClr val="FFFFFF"/>
                </a:solidFill>
              </a:rPr>
              <a:t>99.97% Accuracy | 100.0% Recall</a:t>
            </a:r>
          </a:p>
          <a:p>
            <a:pPr>
              <a:spcAft>
                <a:spcPts val="400"/>
              </a:spcAft>
            </a:pPr>
            <a:r>
              <a:rPr b="1" sz="1000">
                <a:solidFill>
                  <a:srgbClr val="0EA5E9"/>
                </a:solidFill>
              </a:rPr>
              <a:t>XGBoost: </a:t>
            </a:r>
            <a:r>
              <a:rPr sz="1000">
                <a:solidFill>
                  <a:srgbClr val="FFFFFF"/>
                </a:solidFill>
              </a:rPr>
              <a:t>99.96% Accuracy | 99.99% Recall</a:t>
            </a:r>
          </a:p>
          <a:p>
            <a:pPr>
              <a:spcAft>
                <a:spcPts val="400"/>
              </a:spcAft>
            </a:pPr>
            <a:r>
              <a:rPr b="1" sz="1000">
                <a:solidFill>
                  <a:srgbClr val="0EA5E9"/>
                </a:solidFill>
              </a:rPr>
              <a:t>Random Forest: </a:t>
            </a:r>
            <a:r>
              <a:rPr sz="1000">
                <a:solidFill>
                  <a:srgbClr val="FFFFFF"/>
                </a:solidFill>
              </a:rPr>
              <a:t>99.98% Accuracy | 99.98% Recall</a:t>
            </a:r>
          </a:p>
          <a:p>
            <a:pPr>
              <a:spcAft>
                <a:spcPts val="400"/>
              </a:spcAft>
            </a:pPr>
            <a:r>
              <a:rPr b="1" sz="1000">
                <a:solidFill>
                  <a:srgbClr val="0EA5E9"/>
                </a:solidFill>
              </a:rPr>
              <a:t>Conclusion: </a:t>
            </a:r>
            <a:r>
              <a:rPr sz="1000">
                <a:solidFill>
                  <a:srgbClr val="FFFFFF"/>
                </a:solidFill>
              </a:rPr>
              <a:t>Proves zero-day generalization against completely unseen attack classes.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228600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9144000" cy="274320"/>
          </a:xfrm>
          <a:prstGeom prst="rect">
            <a:avLst/>
          </a:prstGeom>
          <a:noFill/>
        </p:spPr>
        <p:txBody>
          <a:bodyPr wrap="square">
            <a:spAutoFit/>
          </a:bodyPr>
          <a:lstStyle/>
          <a:p>
            <a:pPr>
              <a:defRPr sz="1000" b="1">
                <a:solidFill>
                  <a:srgbClr val="0EA5E9"/>
                </a:solidFill>
              </a:defRPr>
            </a:pPr>
            <a:r>
              <a:t>PHASE 5: PRODUCTION SELECTION</a:t>
            </a:r>
          </a:p>
        </p:txBody>
      </p:sp>
      <p:sp>
        <p:nvSpPr>
          <p:cNvPr id="5" name="TextBox 4"/>
          <p:cNvSpPr txBox="1"/>
          <p:nvPr/>
        </p:nvSpPr>
        <p:spPr>
          <a:xfrm>
            <a:off x="731520" y="685800"/>
            <a:ext cx="10698480" cy="640080"/>
          </a:xfrm>
          <a:prstGeom prst="rect">
            <a:avLst/>
          </a:prstGeom>
          <a:noFill/>
        </p:spPr>
        <p:txBody>
          <a:bodyPr wrap="square">
            <a:spAutoFit/>
          </a:bodyPr>
          <a:lstStyle/>
          <a:p>
            <a:pPr>
              <a:defRPr sz="2400" b="1">
                <a:solidFill>
                  <a:srgbClr val="FFFFFF"/>
                </a:solidFill>
              </a:defRPr>
            </a:pPr>
            <a:r>
              <a:t>SDN Deployment Trade-Off: Accuracy vs. Latency</a:t>
            </a:r>
          </a:p>
        </p:txBody>
      </p:sp>
      <p:sp>
        <p:nvSpPr>
          <p:cNvPr id="6" name="Rounded Rectangle 5"/>
          <p:cNvSpPr/>
          <p:nvPr/>
        </p:nvSpPr>
        <p:spPr>
          <a:xfrm>
            <a:off x="731520" y="1463040"/>
            <a:ext cx="685800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ccuracy_vs_latency.png"/>
          <p:cNvPicPr>
            <a:picLocks noChangeAspect="1"/>
          </p:cNvPicPr>
          <p:nvPr/>
        </p:nvPicPr>
        <p:blipFill>
          <a:blip r:embed="rId2"/>
          <a:stretch>
            <a:fillRect/>
          </a:stretch>
        </p:blipFill>
        <p:spPr>
          <a:xfrm>
            <a:off x="914400" y="1645920"/>
            <a:ext cx="6492240" cy="4389120"/>
          </a:xfrm>
          <a:prstGeom prst="rect">
            <a:avLst/>
          </a:prstGeom>
        </p:spPr>
      </p:pic>
      <p:sp>
        <p:nvSpPr>
          <p:cNvPr id="8" name="Rounded Rectangle 7"/>
          <p:cNvSpPr/>
          <p:nvPr/>
        </p:nvSpPr>
        <p:spPr>
          <a:xfrm>
            <a:off x="7863840" y="1463040"/>
            <a:ext cx="356616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20" y="1645920"/>
            <a:ext cx="3200400" cy="457200"/>
          </a:xfrm>
          <a:prstGeom prst="rect">
            <a:avLst/>
          </a:prstGeom>
          <a:noFill/>
        </p:spPr>
        <p:txBody>
          <a:bodyPr wrap="none">
            <a:spAutoFit/>
          </a:bodyPr>
          <a:lstStyle/>
          <a:p>
            <a:pPr>
              <a:defRPr sz="1600" b="1">
                <a:solidFill>
                  <a:srgbClr val="0EA5E9"/>
                </a:solidFill>
              </a:defRPr>
            </a:pPr>
            <a:r>
              <a:t>Why Latency Dictates Selection</a:t>
            </a:r>
          </a:p>
        </p:txBody>
      </p:sp>
      <p:sp>
        <p:nvSpPr>
          <p:cNvPr id="10" name="TextBox 9"/>
          <p:cNvSpPr txBox="1"/>
          <p:nvPr/>
        </p:nvSpPr>
        <p:spPr>
          <a:xfrm>
            <a:off x="8046720" y="2194560"/>
            <a:ext cx="3200400" cy="3840480"/>
          </a:xfrm>
          <a:prstGeom prst="rect">
            <a:avLst/>
          </a:prstGeom>
          <a:noFill/>
        </p:spPr>
        <p:txBody>
          <a:bodyPr wrap="square" tIns="91440">
            <a:spAutoFit/>
          </a:bodyPr>
          <a:lstStyle/>
          <a:p>
            <a:pPr>
              <a:spcAft>
                <a:spcPts val="1000"/>
              </a:spcAft>
            </a:pPr>
            <a:r>
              <a:rPr b="1" sz="1100">
                <a:solidFill>
                  <a:srgbClr val="0EA5E9"/>
                </a:solidFill>
              </a:rPr>
              <a:t>The 5.0 ms SDN Boundary: </a:t>
            </a:r>
            <a:r>
              <a:rPr sz="1100">
                <a:solidFill>
                  <a:srgbClr val="FFFFFF"/>
                </a:solidFill>
              </a:rPr>
              <a:t>Ryu controller flow-table updates must complete before OpenFlow packet buffers overflow.</a:t>
            </a:r>
          </a:p>
          <a:p>
            <a:pPr>
              <a:spcAft>
                <a:spcPts val="1000"/>
              </a:spcAft>
            </a:pPr>
            <a:r>
              <a:rPr b="1" sz="1100">
                <a:solidFill>
                  <a:srgbClr val="0EA5E9"/>
                </a:solidFill>
              </a:rPr>
              <a:t>Decision Tree Superiority: </a:t>
            </a:r>
            <a:r>
              <a:rPr sz="1100">
                <a:solidFill>
                  <a:srgbClr val="FFFFFF"/>
                </a:solidFill>
              </a:rPr>
              <a:t>0.142 ms latency provides a 35x safety buffer under line-rate traffic spikes.</a:t>
            </a:r>
          </a:p>
          <a:p>
            <a:pPr>
              <a:spcAft>
                <a:spcPts val="1000"/>
              </a:spcAft>
            </a:pPr>
            <a:r>
              <a:rPr b="1" sz="1100">
                <a:solidFill>
                  <a:srgbClr val="0EA5E9"/>
                </a:solidFill>
              </a:rPr>
              <a:t>XGBoost Viability: </a:t>
            </a:r>
            <a:r>
              <a:rPr sz="1100">
                <a:solidFill>
                  <a:srgbClr val="FFFFFF"/>
                </a:solidFill>
              </a:rPr>
              <a:t>0.525 ms latency also passes the SLA with high robustness.</a:t>
            </a:r>
          </a:p>
          <a:p>
            <a:pPr>
              <a:spcAft>
                <a:spcPts val="1000"/>
              </a:spcAft>
            </a:pPr>
            <a:r>
              <a:rPr b="1" sz="1100">
                <a:solidFill>
                  <a:srgbClr val="0EA5E9"/>
                </a:solidFill>
              </a:rPr>
              <a:t>Ensemble &amp; LSTM Overhead: </a:t>
            </a:r>
            <a:r>
              <a:rPr sz="1100">
                <a:solidFill>
                  <a:srgbClr val="FFFFFF"/>
                </a:solidFill>
              </a:rPr>
              <a:t>Random Forest (36.87 ms) and LSTM (91.64 ms) fail real-time SDN SLAs despite high accuracy.</a:t>
            </a:r>
          </a:p>
          <a:p>
            <a:pPr>
              <a:spcAft>
                <a:spcPts val="1000"/>
              </a:spcAft>
            </a:pPr>
            <a:r>
              <a:rPr b="1" sz="1100">
                <a:solidFill>
                  <a:srgbClr val="0EA5E9"/>
                </a:solidFill>
              </a:rPr>
              <a:t>Winning Model: </a:t>
            </a:r>
            <a:r>
              <a:rPr sz="1100">
                <a:solidFill>
                  <a:srgbClr val="FFFFFF"/>
                </a:solidFill>
              </a:rPr>
              <a:t>Decision Tree chosen as best_sdn_model.joblib for production deployment.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65760"/>
            <a:ext cx="2286000" cy="36576"/>
          </a:xfrm>
          <a:prstGeom prst="rect">
            <a:avLst/>
          </a:prstGeom>
          <a:solidFill>
            <a:srgbClr val="0EA5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11480"/>
            <a:ext cx="9144000" cy="274320"/>
          </a:xfrm>
          <a:prstGeom prst="rect">
            <a:avLst/>
          </a:prstGeom>
          <a:noFill/>
        </p:spPr>
        <p:txBody>
          <a:bodyPr wrap="square">
            <a:spAutoFit/>
          </a:bodyPr>
          <a:lstStyle/>
          <a:p>
            <a:pPr>
              <a:defRPr sz="1000" b="1">
                <a:solidFill>
                  <a:srgbClr val="0EA5E9"/>
                </a:solidFill>
              </a:defRPr>
            </a:pPr>
            <a:r>
              <a:t>PHASE 5: DEPLOYMENT &amp; SUMMARY</a:t>
            </a:r>
          </a:p>
        </p:txBody>
      </p:sp>
      <p:sp>
        <p:nvSpPr>
          <p:cNvPr id="5" name="TextBox 4"/>
          <p:cNvSpPr txBox="1"/>
          <p:nvPr/>
        </p:nvSpPr>
        <p:spPr>
          <a:xfrm>
            <a:off x="731520" y="685800"/>
            <a:ext cx="10698480" cy="640080"/>
          </a:xfrm>
          <a:prstGeom prst="rect">
            <a:avLst/>
          </a:prstGeom>
          <a:noFill/>
        </p:spPr>
        <p:txBody>
          <a:bodyPr wrap="square">
            <a:spAutoFit/>
          </a:bodyPr>
          <a:lstStyle/>
          <a:p>
            <a:pPr>
              <a:defRPr sz="2400" b="1">
                <a:solidFill>
                  <a:srgbClr val="FFFFFF"/>
                </a:solidFill>
              </a:defRPr>
            </a:pPr>
            <a:r>
              <a:t>Production Packaging &amp; Ryu Controller Integration</a:t>
            </a:r>
          </a:p>
        </p:txBody>
      </p:sp>
      <p:sp>
        <p:nvSpPr>
          <p:cNvPr id="6" name="Rounded Rectangle 5"/>
          <p:cNvSpPr/>
          <p:nvPr/>
        </p:nvSpPr>
        <p:spPr>
          <a:xfrm>
            <a:off x="731520" y="1463040"/>
            <a:ext cx="512064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645920"/>
            <a:ext cx="4572000" cy="457200"/>
          </a:xfrm>
          <a:prstGeom prst="rect">
            <a:avLst/>
          </a:prstGeom>
          <a:noFill/>
        </p:spPr>
        <p:txBody>
          <a:bodyPr wrap="none">
            <a:spAutoFit/>
          </a:bodyPr>
          <a:lstStyle/>
          <a:p>
            <a:pPr>
              <a:defRPr sz="1700" b="1">
                <a:solidFill>
                  <a:srgbClr val="0EA5E9"/>
                </a:solidFill>
              </a:defRPr>
            </a:pPr>
            <a:r>
              <a:t>predict.py Module Verification</a:t>
            </a:r>
          </a:p>
        </p:txBody>
      </p:sp>
      <p:sp>
        <p:nvSpPr>
          <p:cNvPr id="8" name="TextBox 7"/>
          <p:cNvSpPr txBox="1"/>
          <p:nvPr/>
        </p:nvSpPr>
        <p:spPr>
          <a:xfrm>
            <a:off x="1005840" y="2194560"/>
            <a:ext cx="4572000" cy="3840480"/>
          </a:xfrm>
          <a:prstGeom prst="rect">
            <a:avLst/>
          </a:prstGeom>
          <a:noFill/>
        </p:spPr>
        <p:txBody>
          <a:bodyPr wrap="square" tIns="91440">
            <a:spAutoFit/>
          </a:bodyPr>
          <a:lstStyle/>
          <a:p>
            <a:pPr>
              <a:spcAft>
                <a:spcPts val="1000"/>
              </a:spcAft>
            </a:pPr>
            <a:r>
              <a:rPr b="1" sz="1100">
                <a:solidFill>
                  <a:srgbClr val="0EA5E9"/>
                </a:solidFill>
              </a:rPr>
              <a:t>Callable API: </a:t>
            </a:r>
            <a:r>
              <a:rPr sz="1100">
                <a:solidFill>
                  <a:srgbClr val="FFFFFF"/>
                </a:solidFill>
              </a:rPr>
              <a:t>predict_packet(packet_data) accepts dicts, numpy arrays, or pandas Series.</a:t>
            </a:r>
          </a:p>
          <a:p>
            <a:pPr>
              <a:spcAft>
                <a:spcPts val="1000"/>
              </a:spcAft>
            </a:pPr>
            <a:r>
              <a:rPr b="1" sz="1100">
                <a:solidFill>
                  <a:srgbClr val="0EA5E9"/>
                </a:solidFill>
              </a:rPr>
              <a:t>In-Memory Caching: </a:t>
            </a:r>
            <a:r>
              <a:rPr sz="1100">
                <a:solidFill>
                  <a:srgbClr val="FFFFFF"/>
                </a:solidFill>
              </a:rPr>
              <a:t>Pre-loads best_sdn_model.joblib and scaler.joblib once on controller launch.</a:t>
            </a:r>
          </a:p>
          <a:p>
            <a:pPr>
              <a:spcAft>
                <a:spcPts val="1000"/>
              </a:spcAft>
            </a:pPr>
            <a:r>
              <a:rPr b="1" sz="1100">
                <a:solidFill>
                  <a:srgbClr val="0EA5E9"/>
                </a:solidFill>
              </a:rPr>
              <a:t>Measured Average Latency: </a:t>
            </a:r>
            <a:r>
              <a:rPr sz="1100">
                <a:solidFill>
                  <a:srgbClr val="FFFFFF"/>
                </a:solidFill>
              </a:rPr>
              <a:t>0.578 ms / packet (500 iterations benchmarked).</a:t>
            </a:r>
          </a:p>
          <a:p>
            <a:pPr>
              <a:spcAft>
                <a:spcPts val="1000"/>
              </a:spcAft>
            </a:pPr>
            <a:r>
              <a:rPr b="1" sz="1100">
                <a:solidFill>
                  <a:srgbClr val="0EA5E9"/>
                </a:solidFill>
              </a:rPr>
              <a:t>99th Percentile Latency: </a:t>
            </a:r>
            <a:r>
              <a:rPr sz="1100">
                <a:solidFill>
                  <a:srgbClr val="FFFFFF"/>
                </a:solidFill>
              </a:rPr>
              <a:t>0.649 ms / packet (Zero latency spikes observed).</a:t>
            </a:r>
          </a:p>
          <a:p>
            <a:pPr>
              <a:spcAft>
                <a:spcPts val="1000"/>
              </a:spcAft>
            </a:pPr>
            <a:r>
              <a:rPr b="1" sz="1100">
                <a:solidFill>
                  <a:srgbClr val="0EA5E9"/>
                </a:solidFill>
              </a:rPr>
              <a:t>SLA Compliance Status: </a:t>
            </a:r>
            <a:r>
              <a:rPr sz="1100">
                <a:solidFill>
                  <a:srgbClr val="FFFFFF"/>
                </a:solidFill>
              </a:rPr>
              <a:t>PASSED: Well below the 5.0 ms threshold.</a:t>
            </a:r>
          </a:p>
          <a:p>
            <a:pPr>
              <a:spcAft>
                <a:spcPts val="1000"/>
              </a:spcAft>
            </a:pPr>
            <a:r>
              <a:rPr b="1" sz="1100">
                <a:solidFill>
                  <a:srgbClr val="0EA5E9"/>
                </a:solidFill>
              </a:rPr>
              <a:t>Response Contract: </a:t>
            </a:r>
            <a:r>
              <a:rPr sz="1100">
                <a:solidFill>
                  <a:srgbClr val="FFFFFF"/>
                </a:solidFill>
              </a:rPr>
              <a:t>{'is_ddos': True, 'label': 'ATTACK', 'confidence': 1.0, 'latency_ms': 0.568, 'action': 'DROP'}</a:t>
            </a:r>
          </a:p>
        </p:txBody>
      </p:sp>
      <p:sp>
        <p:nvSpPr>
          <p:cNvPr id="9" name="Rounded Rectangle 8"/>
          <p:cNvSpPr/>
          <p:nvPr/>
        </p:nvSpPr>
        <p:spPr>
          <a:xfrm>
            <a:off x="6217920" y="1463040"/>
            <a:ext cx="5212080" cy="47548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645920"/>
            <a:ext cx="4572000" cy="457200"/>
          </a:xfrm>
          <a:prstGeom prst="rect">
            <a:avLst/>
          </a:prstGeom>
          <a:noFill/>
        </p:spPr>
        <p:txBody>
          <a:bodyPr wrap="none">
            <a:spAutoFit/>
          </a:bodyPr>
          <a:lstStyle/>
          <a:p>
            <a:pPr>
              <a:defRPr sz="1700" b="1">
                <a:solidFill>
                  <a:srgbClr val="10B981"/>
                </a:solidFill>
              </a:defRPr>
            </a:pPr>
            <a:r>
              <a:t>Ryu Controller OpenFlow Mitigation</a:t>
            </a:r>
          </a:p>
        </p:txBody>
      </p:sp>
      <p:sp>
        <p:nvSpPr>
          <p:cNvPr id="11" name="TextBox 10"/>
          <p:cNvSpPr txBox="1"/>
          <p:nvPr/>
        </p:nvSpPr>
        <p:spPr>
          <a:xfrm>
            <a:off x="6492240" y="2194560"/>
            <a:ext cx="4572000" cy="3840480"/>
          </a:xfrm>
          <a:prstGeom prst="rect">
            <a:avLst/>
          </a:prstGeom>
          <a:noFill/>
        </p:spPr>
        <p:txBody>
          <a:bodyPr wrap="square" tIns="91440">
            <a:spAutoFit/>
          </a:bodyPr>
          <a:lstStyle/>
          <a:p>
            <a:pPr>
              <a:spcAft>
                <a:spcPts val="1000"/>
              </a:spcAft>
            </a:pPr>
            <a:r>
              <a:rPr b="1" sz="1100">
                <a:solidFill>
                  <a:srgbClr val="0EA5E9"/>
                </a:solidFill>
              </a:rPr>
              <a:t>Event Hooking: </a:t>
            </a:r>
            <a:r>
              <a:rPr sz="1100">
                <a:solidFill>
                  <a:srgbClr val="FFFFFF"/>
                </a:solidFill>
              </a:rPr>
              <a:t>Integrated into EventOFPFlowStatsReply and EventOFPPacketIn handlers.</a:t>
            </a:r>
          </a:p>
          <a:p>
            <a:pPr>
              <a:spcAft>
                <a:spcPts val="1000"/>
              </a:spcAft>
            </a:pPr>
            <a:r>
              <a:rPr b="1" sz="1100">
                <a:solidFill>
                  <a:srgbClr val="0EA5E9"/>
                </a:solidFill>
              </a:rPr>
              <a:t>Autonomous Drop Rule: </a:t>
            </a:r>
            <a:r>
              <a:rPr sz="1100">
                <a:solidFill>
                  <a:srgbClr val="FFFFFF"/>
                </a:solidFill>
              </a:rPr>
              <a:t>Installs OFPFlowMod with OFPIT_APPLY_ACTIONS (empty action list = drop).</a:t>
            </a:r>
          </a:p>
          <a:p>
            <a:pPr>
              <a:spcAft>
                <a:spcPts val="1000"/>
              </a:spcAft>
            </a:pPr>
            <a:r>
              <a:rPr b="1" sz="1100">
                <a:solidFill>
                  <a:srgbClr val="0EA5E9"/>
                </a:solidFill>
              </a:rPr>
              <a:t>Priority Override: </a:t>
            </a:r>
            <a:r>
              <a:rPr sz="1100">
                <a:solidFill>
                  <a:srgbClr val="FFFFFF"/>
                </a:solidFill>
              </a:rPr>
              <a:t>High priority (1000) overrides normal forwarding for the offending flow match.</a:t>
            </a:r>
          </a:p>
          <a:p>
            <a:pPr>
              <a:spcAft>
                <a:spcPts val="1000"/>
              </a:spcAft>
            </a:pPr>
            <a:r>
              <a:rPr b="1" sz="1100">
                <a:solidFill>
                  <a:srgbClr val="0EA5E9"/>
                </a:solidFill>
              </a:rPr>
              <a:t>Hard Timeout Expiry: </a:t>
            </a:r>
            <a:r>
              <a:rPr sz="1100">
                <a:solidFill>
                  <a:srgbClr val="FFFFFF"/>
                </a:solidFill>
              </a:rPr>
              <a:t>Sets 60s hard timeout to prevent stale flow table rule accumulation.</a:t>
            </a:r>
          </a:p>
          <a:p>
            <a:pPr>
              <a:spcAft>
                <a:spcPts val="1000"/>
              </a:spcAft>
            </a:pPr>
            <a:r>
              <a:rPr b="1" sz="1100">
                <a:solidFill>
                  <a:srgbClr val="0EA5E9"/>
                </a:solidFill>
              </a:rPr>
              <a:t>Deliverable State: </a:t>
            </a:r>
            <a:r>
              <a:rPr sz="1100">
                <a:solidFill>
                  <a:srgbClr val="FFFFFF"/>
                </a:solidFill>
              </a:rPr>
              <a:t>All code pushed to GitHub repo botvecna47/SDN-Based-DDoS-Mitigation at mlbranch.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